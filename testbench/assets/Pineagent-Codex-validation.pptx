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9"/>
  </p:notesMasterIdLst>
  <p:sldIdLst>
    <p:sldId id="256" r:id="rId2"/>
    <p:sldId id="257" r:id="rId3"/>
    <p:sldId id="258" r:id="rId4"/>
    <p:sldId id="259" r:id="rId5"/>
    <p:sldId id="260" r:id="rId6"/>
    <p:sldId id="261" r:id="rId7"/>
    <p:sldId id="262" r:id="rId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051DB6C-3AF1-4505-A6D1-3A231C5EB7C2}" type="datetimeFigureOut">
              <a:rPr lang="en-US" smtClean="0"/>
              <a:t>10/18/2026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6BC619E-0451-4F4A-AF5F-C115D8E0BF9B}" type="slidenum">
              <a:rPr lang="en-US" smtClean="0"/>
              <a:t>‹#›</a:t>
            </a:fld>
            <a:endParaRPr lang="en-US"/>
          </a:p>
        </p:txBody>
      </p:sp>
    </p:spTree>
    <p:extLst>
      <p:ext uri="{BB962C8B-B14F-4D97-AF65-F5344CB8AC3E}">
        <p14:creationId xmlns:p14="http://schemas.microsoft.com/office/powerpoint/2010/main" val="99666644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Evidence: testbench/evidence/VALIDATION.md and smoke-manifest.json. No live model runs have been performed. This deck reports evaluator validation, not agent performance.</a:t>
            </a:r>
          </a:p>
        </p:txBody>
      </p:sp>
      <p:sp>
        <p:nvSpPr>
          <p:cNvPr id="4" name="Slide Number Placeholder 3"/>
          <p:cNvSpPr>
            <a:spLocks noGrp="1"/>
          </p:cNvSpPr>
          <p:nvPr>
            <p:ph type="sldNum" sz="quarter" idx="5"/>
          </p:nvPr>
        </p:nvSpPr>
        <p:spPr/>
        <p:txBody>
          <a:bodyPr/>
          <a:lstStyle/>
          <a:p>
            <a:fld id="{66BC619E-0451-4F4A-AF5F-C115D8E0BF9B}" type="slidenum">
              <a:rPr lang="en-US" smtClean="0"/>
              <a:t>1</a:t>
            </a:fld>
            <a:endParaRPr lang="en-US"/>
          </a:p>
        </p:txBody>
      </p:sp>
    </p:spTree>
    <p:extLst>
      <p:ext uri="{BB962C8B-B14F-4D97-AF65-F5344CB8AC3E}">
        <p14:creationId xmlns:p14="http://schemas.microsoft.com/office/powerpoint/2010/main" val="71850822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Source: frozen harness commit 9076b82b5d126a314b847bd94da842c5ac34e38b and installed Codex CLI 0.163.0. The harness tree was unchanged on remote main at 3e4937b. See PROTOCOL.md and README.md. Jev backup is unconfigured. Both coding arms receive an 8192 output-token ceiling per response.</a:t>
            </a:r>
          </a:p>
        </p:txBody>
      </p:sp>
      <p:sp>
        <p:nvSpPr>
          <p:cNvPr id="4" name="Slide Number Placeholder 3"/>
          <p:cNvSpPr>
            <a:spLocks noGrp="1"/>
          </p:cNvSpPr>
          <p:nvPr>
            <p:ph type="sldNum" sz="quarter" idx="5"/>
          </p:nvPr>
        </p:nvSpPr>
        <p:spPr/>
        <p:txBody>
          <a:bodyPr/>
          <a:lstStyle/>
          <a:p>
            <a:fld id="{66BC619E-0451-4F4A-AF5F-C115D8E0BF9B}" type="slidenum">
              <a:rPr lang="en-US" smtClean="0"/>
              <a:t>2</a:t>
            </a:fld>
            <a:endParaRPr lang="en-US"/>
          </a:p>
        </p:txBody>
      </p:sp>
    </p:spTree>
    <p:extLst>
      <p:ext uri="{BB962C8B-B14F-4D97-AF65-F5344CB8AC3E}">
        <p14:creationId xmlns:p14="http://schemas.microsoft.com/office/powerpoint/2010/main" val="27247428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Source: testbench/evidence/VALIDATION.md. Commands: node --test testbench/test/*.test.mjs (11 passed); frozen image node --test dist/test/*.test.js (46 passed); offline Docker smoke (4 trials). Calibration gold is known reference code, not model output. Smoke performs no inference and leaves bugs in place.</a:t>
            </a:r>
          </a:p>
        </p:txBody>
      </p:sp>
      <p:sp>
        <p:nvSpPr>
          <p:cNvPr id="4" name="Slide Number Placeholder 3"/>
          <p:cNvSpPr>
            <a:spLocks noGrp="1"/>
          </p:cNvSpPr>
          <p:nvPr>
            <p:ph type="sldNum" sz="quarter" idx="5"/>
          </p:nvPr>
        </p:nvSpPr>
        <p:spPr/>
        <p:txBody>
          <a:bodyPr/>
          <a:lstStyle/>
          <a:p>
            <a:fld id="{66BC619E-0451-4F4A-AF5F-C115D8E0BF9B}" type="slidenum">
              <a:rPr lang="en-US" smtClean="0"/>
              <a:t>3</a:t>
            </a:fld>
            <a:endParaRPr lang="en-US"/>
          </a:p>
        </p:txBody>
      </p:sp>
    </p:spTree>
    <p:extLst>
      <p:ext uri="{BB962C8B-B14F-4D97-AF65-F5344CB8AC3E}">
        <p14:creationId xmlns:p14="http://schemas.microsoft.com/office/powerpoint/2010/main" val="367831252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Source: testbench/src/proxy.mjs and metrics.mjs. Transport-level receipts account for Responses and Decisions. Input tokens include cached input, and output tokens include reasoning. Failed calls with unknown usage block a complete total. Model-call counts alone omit routing. Provider request count is observable, not a count of hidden internal inference steps.</a:t>
            </a:r>
          </a:p>
        </p:txBody>
      </p:sp>
      <p:sp>
        <p:nvSpPr>
          <p:cNvPr id="4" name="Slide Number Placeholder 3"/>
          <p:cNvSpPr>
            <a:spLocks noGrp="1"/>
          </p:cNvSpPr>
          <p:nvPr>
            <p:ph type="sldNum" sz="quarter" idx="5"/>
          </p:nvPr>
        </p:nvSpPr>
        <p:spPr/>
        <p:txBody>
          <a:bodyPr/>
          <a:lstStyle/>
          <a:p>
            <a:fld id="{66BC619E-0451-4F4A-AF5F-C115D8E0BF9B}" type="slidenum">
              <a:rPr lang="en-US" smtClean="0"/>
              <a:t>4</a:t>
            </a:fld>
            <a:endParaRPr lang="en-US"/>
          </a:p>
        </p:txBody>
      </p:sp>
    </p:spTree>
    <p:extLst>
      <p:ext uri="{BB962C8B-B14F-4D97-AF65-F5344CB8AC3E}">
        <p14:creationId xmlns:p14="http://schemas.microsoft.com/office/powerpoint/2010/main" val="91596122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Planning proposal, not observed results. Source: PROTOCOL.md. SWE-PolyBench maintainers describe a 100-issue JavaScript Verified subset: https://github.com/amazon-science/SWE-PolyBench . A repository adapter is required and is not implemented here. The nominal sample size is not a statistical power guarantee. Size the final study using pilot variance and paired discordance, before examining confirmatory outcomes.</a:t>
            </a:r>
          </a:p>
        </p:txBody>
      </p:sp>
      <p:sp>
        <p:nvSpPr>
          <p:cNvPr id="4" name="Slide Number Placeholder 3"/>
          <p:cNvSpPr>
            <a:spLocks noGrp="1"/>
          </p:cNvSpPr>
          <p:nvPr>
            <p:ph type="sldNum" sz="quarter" idx="5"/>
          </p:nvPr>
        </p:nvSpPr>
        <p:spPr/>
        <p:txBody>
          <a:bodyPr/>
          <a:lstStyle/>
          <a:p>
            <a:fld id="{66BC619E-0451-4F4A-AF5F-C115D8E0BF9B}" type="slidenum">
              <a:rPr lang="en-US" smtClean="0"/>
              <a:t>5</a:t>
            </a:fld>
            <a:endParaRPr lang="en-US"/>
          </a:p>
        </p:txBody>
      </p:sp>
    </p:spTree>
    <p:extLst>
      <p:ext uri="{BB962C8B-B14F-4D97-AF65-F5344CB8AC3E}">
        <p14:creationId xmlns:p14="http://schemas.microsoft.com/office/powerpoint/2010/main" val="48168676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Source: PROTOCOL.md and README.md. These are methodological recommendations. The implemented runner supports trusted, self-contained JavaScript fixtures. Full npm repository integration, strict egress isolation, immutable model snapshots and hard dollar enforcement remain outside the validated implementation.</a:t>
            </a:r>
          </a:p>
        </p:txBody>
      </p:sp>
      <p:sp>
        <p:nvSpPr>
          <p:cNvPr id="4" name="Slide Number Placeholder 3"/>
          <p:cNvSpPr>
            <a:spLocks noGrp="1"/>
          </p:cNvSpPr>
          <p:nvPr>
            <p:ph type="sldNum" sz="quarter" idx="5"/>
          </p:nvPr>
        </p:nvSpPr>
        <p:spPr/>
        <p:txBody>
          <a:bodyPr/>
          <a:lstStyle/>
          <a:p>
            <a:fld id="{66BC619E-0451-4F4A-AF5F-C115D8E0BF9B}" type="slidenum">
              <a:rPr lang="en-US" smtClean="0"/>
              <a:t>6</a:t>
            </a:fld>
            <a:endParaRPr lang="en-US"/>
          </a:p>
        </p:txBody>
      </p:sp>
    </p:spTree>
    <p:extLst>
      <p:ext uri="{BB962C8B-B14F-4D97-AF65-F5344CB8AC3E}">
        <p14:creationId xmlns:p14="http://schemas.microsoft.com/office/powerpoint/2010/main" val="140131672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Status as of 2026-10-18. Existing API credential location and live spending cap remain unanswered. Need access to the frozen Responses and Decisions routes. Current evidence cannot identify a winner. Rule from PROTOCOL.md: paired 95% quality difference lower bound &gt; -0.05 and paired token ratio upper bound &lt; 1, complete usage, prespecified sufficient corpus. Bootstrap degeneracy is flagged rather than treated as proof. PR https://github.com/adanjoserrojas/Pineagent/pull/23 .</a:t>
            </a:r>
          </a:p>
        </p:txBody>
      </p:sp>
      <p:sp>
        <p:nvSpPr>
          <p:cNvPr id="4" name="Slide Number Placeholder 3"/>
          <p:cNvSpPr>
            <a:spLocks noGrp="1"/>
          </p:cNvSpPr>
          <p:nvPr>
            <p:ph type="sldNum" sz="quarter" idx="5"/>
          </p:nvPr>
        </p:nvSpPr>
        <p:spPr/>
        <p:txBody>
          <a:bodyPr/>
          <a:lstStyle/>
          <a:p>
            <a:fld id="{66BC619E-0451-4F4A-AF5F-C115D8E0BF9B}" type="slidenum">
              <a:rPr lang="en-US" smtClean="0"/>
              <a:t>7</a:t>
            </a:fld>
            <a:endParaRPr lang="en-US"/>
          </a:p>
        </p:txBody>
      </p:sp>
    </p:spTree>
    <p:extLst>
      <p:ext uri="{BB962C8B-B14F-4D97-AF65-F5344CB8AC3E}">
        <p14:creationId xmlns:p14="http://schemas.microsoft.com/office/powerpoint/2010/main" val="409345548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5558C1-62F5-EAD1-AF58-FCC2CBAFE24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E336B899-6159-598B-CD6C-B28A7C7FA4C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1DCBE771-9822-B747-8DF7-15DCC1AAB12C}"/>
              </a:ext>
            </a:extLst>
          </p:cNvPr>
          <p:cNvSpPr>
            <a:spLocks noGrp="1"/>
          </p:cNvSpPr>
          <p:nvPr>
            <p:ph type="dt" sz="half" idx="10"/>
          </p:nvPr>
        </p:nvSpPr>
        <p:spPr/>
        <p:txBody>
          <a:bodyPr/>
          <a:lstStyle/>
          <a:p>
            <a:fld id="{14B85FB5-A520-47D4-83F2-B9A1E840B246}" type="datetimeFigureOut">
              <a:rPr lang="en-US" smtClean="0"/>
              <a:t>10/18/2026</a:t>
            </a:fld>
            <a:endParaRPr lang="en-US"/>
          </a:p>
        </p:txBody>
      </p:sp>
      <p:sp>
        <p:nvSpPr>
          <p:cNvPr id="5" name="Footer Placeholder 4">
            <a:extLst>
              <a:ext uri="{FF2B5EF4-FFF2-40B4-BE49-F238E27FC236}">
                <a16:creationId xmlns:a16="http://schemas.microsoft.com/office/drawing/2014/main" id="{778DB87E-E9DA-1306-5731-19BBC5BD2F3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FA73D05-0699-9209-4F00-5DDA734FE314}"/>
              </a:ext>
            </a:extLst>
          </p:cNvPr>
          <p:cNvSpPr>
            <a:spLocks noGrp="1"/>
          </p:cNvSpPr>
          <p:nvPr>
            <p:ph type="sldNum" sz="quarter" idx="12"/>
          </p:nvPr>
        </p:nvSpPr>
        <p:spPr/>
        <p:txBody>
          <a:bodyPr/>
          <a:lstStyle/>
          <a:p>
            <a:fld id="{D2C2F722-B9BC-4748-9C1E-8740DD39547A}" type="slidenum">
              <a:rPr lang="en-US" smtClean="0"/>
              <a:t>‹#›</a:t>
            </a:fld>
            <a:endParaRPr lang="en-US"/>
          </a:p>
        </p:txBody>
      </p:sp>
    </p:spTree>
    <p:extLst>
      <p:ext uri="{BB962C8B-B14F-4D97-AF65-F5344CB8AC3E}">
        <p14:creationId xmlns:p14="http://schemas.microsoft.com/office/powerpoint/2010/main" val="421866612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D44B1B-7506-C35C-7419-544EADF2074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CB8F134-4358-BF7C-E999-903FBC31927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CE1E163-7023-0753-2BC3-852FBFB213FE}"/>
              </a:ext>
            </a:extLst>
          </p:cNvPr>
          <p:cNvSpPr>
            <a:spLocks noGrp="1"/>
          </p:cNvSpPr>
          <p:nvPr>
            <p:ph type="dt" sz="half" idx="10"/>
          </p:nvPr>
        </p:nvSpPr>
        <p:spPr/>
        <p:txBody>
          <a:bodyPr/>
          <a:lstStyle/>
          <a:p>
            <a:fld id="{14B85FB5-A520-47D4-83F2-B9A1E840B246}" type="datetimeFigureOut">
              <a:rPr lang="en-US" smtClean="0"/>
              <a:t>10/18/2026</a:t>
            </a:fld>
            <a:endParaRPr lang="en-US"/>
          </a:p>
        </p:txBody>
      </p:sp>
      <p:sp>
        <p:nvSpPr>
          <p:cNvPr id="5" name="Footer Placeholder 4">
            <a:extLst>
              <a:ext uri="{FF2B5EF4-FFF2-40B4-BE49-F238E27FC236}">
                <a16:creationId xmlns:a16="http://schemas.microsoft.com/office/drawing/2014/main" id="{29132CD1-5E8A-1BB2-795F-C7994D114E0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1EDBB91-9310-21A5-BC1B-193D08B4F9E5}"/>
              </a:ext>
            </a:extLst>
          </p:cNvPr>
          <p:cNvSpPr>
            <a:spLocks noGrp="1"/>
          </p:cNvSpPr>
          <p:nvPr>
            <p:ph type="sldNum" sz="quarter" idx="12"/>
          </p:nvPr>
        </p:nvSpPr>
        <p:spPr/>
        <p:txBody>
          <a:bodyPr/>
          <a:lstStyle/>
          <a:p>
            <a:fld id="{D2C2F722-B9BC-4748-9C1E-8740DD39547A}" type="slidenum">
              <a:rPr lang="en-US" smtClean="0"/>
              <a:t>‹#›</a:t>
            </a:fld>
            <a:endParaRPr lang="en-US"/>
          </a:p>
        </p:txBody>
      </p:sp>
    </p:spTree>
    <p:extLst>
      <p:ext uri="{BB962C8B-B14F-4D97-AF65-F5344CB8AC3E}">
        <p14:creationId xmlns:p14="http://schemas.microsoft.com/office/powerpoint/2010/main" val="410582621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770A7F-6258-32CB-BB62-60F9406830E0}"/>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C0F9F88E-39AD-CEC4-9596-4A9C7011D9FD}"/>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7CCDDB7-F6C2-FAF5-48C1-906664C6870E}"/>
              </a:ext>
            </a:extLst>
          </p:cNvPr>
          <p:cNvSpPr>
            <a:spLocks noGrp="1"/>
          </p:cNvSpPr>
          <p:nvPr>
            <p:ph type="dt" sz="half" idx="10"/>
          </p:nvPr>
        </p:nvSpPr>
        <p:spPr/>
        <p:txBody>
          <a:bodyPr/>
          <a:lstStyle/>
          <a:p>
            <a:fld id="{14B85FB5-A520-47D4-83F2-B9A1E840B246}" type="datetimeFigureOut">
              <a:rPr lang="en-US" smtClean="0"/>
              <a:t>10/18/2026</a:t>
            </a:fld>
            <a:endParaRPr lang="en-US"/>
          </a:p>
        </p:txBody>
      </p:sp>
      <p:sp>
        <p:nvSpPr>
          <p:cNvPr id="5" name="Footer Placeholder 4">
            <a:extLst>
              <a:ext uri="{FF2B5EF4-FFF2-40B4-BE49-F238E27FC236}">
                <a16:creationId xmlns:a16="http://schemas.microsoft.com/office/drawing/2014/main" id="{A8714319-9979-F484-A7DE-A1A24158AEF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03DF5D2-B991-05CC-33C4-C79633517342}"/>
              </a:ext>
            </a:extLst>
          </p:cNvPr>
          <p:cNvSpPr>
            <a:spLocks noGrp="1"/>
          </p:cNvSpPr>
          <p:nvPr>
            <p:ph type="sldNum" sz="quarter" idx="12"/>
          </p:nvPr>
        </p:nvSpPr>
        <p:spPr/>
        <p:txBody>
          <a:bodyPr/>
          <a:lstStyle/>
          <a:p>
            <a:fld id="{D2C2F722-B9BC-4748-9C1E-8740DD39547A}" type="slidenum">
              <a:rPr lang="en-US" smtClean="0"/>
              <a:t>‹#›</a:t>
            </a:fld>
            <a:endParaRPr lang="en-US"/>
          </a:p>
        </p:txBody>
      </p:sp>
    </p:spTree>
    <p:extLst>
      <p:ext uri="{BB962C8B-B14F-4D97-AF65-F5344CB8AC3E}">
        <p14:creationId xmlns:p14="http://schemas.microsoft.com/office/powerpoint/2010/main" val="107184311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31F7C5-874E-9F1F-F3E8-17653944263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3ECCE9A-BAE8-007D-56E2-CB48F727D31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6AC9CC64-CC63-0D28-62DB-8C96D3ED515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A2325562-696D-BE46-336A-B68F6F590824}"/>
              </a:ext>
            </a:extLst>
          </p:cNvPr>
          <p:cNvSpPr>
            <a:spLocks noGrp="1"/>
          </p:cNvSpPr>
          <p:nvPr>
            <p:ph type="dt" sz="half" idx="10"/>
          </p:nvPr>
        </p:nvSpPr>
        <p:spPr/>
        <p:txBody>
          <a:bodyPr/>
          <a:lstStyle/>
          <a:p>
            <a:fld id="{14B85FB5-A520-47D4-83F2-B9A1E840B246}" type="datetimeFigureOut">
              <a:rPr lang="en-US" smtClean="0"/>
              <a:t>10/18/2026</a:t>
            </a:fld>
            <a:endParaRPr lang="en-US"/>
          </a:p>
        </p:txBody>
      </p:sp>
      <p:sp>
        <p:nvSpPr>
          <p:cNvPr id="6" name="Footer Placeholder 5">
            <a:extLst>
              <a:ext uri="{FF2B5EF4-FFF2-40B4-BE49-F238E27FC236}">
                <a16:creationId xmlns:a16="http://schemas.microsoft.com/office/drawing/2014/main" id="{EB9F4E96-2A20-E301-D1DD-3AE7207D6D4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6BEA883-5330-7F08-647B-30EAE66A5BA2}"/>
              </a:ext>
            </a:extLst>
          </p:cNvPr>
          <p:cNvSpPr>
            <a:spLocks noGrp="1"/>
          </p:cNvSpPr>
          <p:nvPr>
            <p:ph type="sldNum" sz="quarter" idx="12"/>
          </p:nvPr>
        </p:nvSpPr>
        <p:spPr/>
        <p:txBody>
          <a:bodyPr/>
          <a:lstStyle/>
          <a:p>
            <a:fld id="{D2C2F722-B9BC-4748-9C1E-8740DD39547A}" type="slidenum">
              <a:rPr lang="en-US" smtClean="0"/>
              <a:t>‹#›</a:t>
            </a:fld>
            <a:endParaRPr lang="en-US"/>
          </a:p>
        </p:txBody>
      </p:sp>
    </p:spTree>
    <p:extLst>
      <p:ext uri="{BB962C8B-B14F-4D97-AF65-F5344CB8AC3E}">
        <p14:creationId xmlns:p14="http://schemas.microsoft.com/office/powerpoint/2010/main" val="32317302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DE694B-0799-60CA-8085-7AB5FC643A02}"/>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9C1E1318-EA18-A3C9-5847-C82F2107403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8343014-1ADE-83CF-AC89-C4348468E65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787C9DB6-5D1D-CE63-9A4F-5FBA002B977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47E57ED-460B-CB1D-6BD6-3096B876999B}"/>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8F835542-C319-EB16-53F8-03D2C13C717E}"/>
              </a:ext>
            </a:extLst>
          </p:cNvPr>
          <p:cNvSpPr>
            <a:spLocks noGrp="1"/>
          </p:cNvSpPr>
          <p:nvPr>
            <p:ph type="dt" sz="half" idx="10"/>
          </p:nvPr>
        </p:nvSpPr>
        <p:spPr/>
        <p:txBody>
          <a:bodyPr/>
          <a:lstStyle/>
          <a:p>
            <a:fld id="{14B85FB5-A520-47D4-83F2-B9A1E840B246}" type="datetimeFigureOut">
              <a:rPr lang="en-US" smtClean="0"/>
              <a:t>10/18/2026</a:t>
            </a:fld>
            <a:endParaRPr lang="en-US"/>
          </a:p>
        </p:txBody>
      </p:sp>
      <p:sp>
        <p:nvSpPr>
          <p:cNvPr id="8" name="Footer Placeholder 7">
            <a:extLst>
              <a:ext uri="{FF2B5EF4-FFF2-40B4-BE49-F238E27FC236}">
                <a16:creationId xmlns:a16="http://schemas.microsoft.com/office/drawing/2014/main" id="{BA336D2F-1C63-C56D-5A62-1C40FE1D8793}"/>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6492C69F-42DA-62B3-1550-BA9884B13BF2}"/>
              </a:ext>
            </a:extLst>
          </p:cNvPr>
          <p:cNvSpPr>
            <a:spLocks noGrp="1"/>
          </p:cNvSpPr>
          <p:nvPr>
            <p:ph type="sldNum" sz="quarter" idx="12"/>
          </p:nvPr>
        </p:nvSpPr>
        <p:spPr/>
        <p:txBody>
          <a:bodyPr/>
          <a:lstStyle/>
          <a:p>
            <a:fld id="{D2C2F722-B9BC-4748-9C1E-8740DD39547A}" type="slidenum">
              <a:rPr lang="en-US" smtClean="0"/>
              <a:t>‹#›</a:t>
            </a:fld>
            <a:endParaRPr lang="en-US"/>
          </a:p>
        </p:txBody>
      </p:sp>
    </p:spTree>
    <p:extLst>
      <p:ext uri="{BB962C8B-B14F-4D97-AF65-F5344CB8AC3E}">
        <p14:creationId xmlns:p14="http://schemas.microsoft.com/office/powerpoint/2010/main" val="331499745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B50D3C-09F0-5353-6012-837C0DCE6057}"/>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A793888D-462E-FE54-AF8C-F343C4C25FCC}"/>
              </a:ext>
            </a:extLst>
          </p:cNvPr>
          <p:cNvSpPr>
            <a:spLocks noGrp="1"/>
          </p:cNvSpPr>
          <p:nvPr>
            <p:ph type="dt" sz="half" idx="10"/>
          </p:nvPr>
        </p:nvSpPr>
        <p:spPr/>
        <p:txBody>
          <a:bodyPr/>
          <a:lstStyle/>
          <a:p>
            <a:fld id="{14B85FB5-A520-47D4-83F2-B9A1E840B246}" type="datetimeFigureOut">
              <a:rPr lang="en-US" smtClean="0"/>
              <a:t>10/18/2026</a:t>
            </a:fld>
            <a:endParaRPr lang="en-US"/>
          </a:p>
        </p:txBody>
      </p:sp>
      <p:sp>
        <p:nvSpPr>
          <p:cNvPr id="4" name="Footer Placeholder 3">
            <a:extLst>
              <a:ext uri="{FF2B5EF4-FFF2-40B4-BE49-F238E27FC236}">
                <a16:creationId xmlns:a16="http://schemas.microsoft.com/office/drawing/2014/main" id="{0219F16F-844B-FC8F-1AD7-3A4BA071141D}"/>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7ACD18A4-EF91-9FE7-5F48-2D56F450B0A1}"/>
              </a:ext>
            </a:extLst>
          </p:cNvPr>
          <p:cNvSpPr>
            <a:spLocks noGrp="1"/>
          </p:cNvSpPr>
          <p:nvPr>
            <p:ph type="sldNum" sz="quarter" idx="12"/>
          </p:nvPr>
        </p:nvSpPr>
        <p:spPr/>
        <p:txBody>
          <a:bodyPr/>
          <a:lstStyle/>
          <a:p>
            <a:fld id="{D2C2F722-B9BC-4748-9C1E-8740DD39547A}" type="slidenum">
              <a:rPr lang="en-US" smtClean="0"/>
              <a:t>‹#›</a:t>
            </a:fld>
            <a:endParaRPr lang="en-US"/>
          </a:p>
        </p:txBody>
      </p:sp>
    </p:spTree>
    <p:extLst>
      <p:ext uri="{BB962C8B-B14F-4D97-AF65-F5344CB8AC3E}">
        <p14:creationId xmlns:p14="http://schemas.microsoft.com/office/powerpoint/2010/main" val="406730635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F8AD843-DB1C-4B4C-CA64-3D6389C55521}"/>
              </a:ext>
            </a:extLst>
          </p:cNvPr>
          <p:cNvSpPr>
            <a:spLocks noGrp="1"/>
          </p:cNvSpPr>
          <p:nvPr>
            <p:ph type="dt" sz="half" idx="10"/>
          </p:nvPr>
        </p:nvSpPr>
        <p:spPr/>
        <p:txBody>
          <a:bodyPr/>
          <a:lstStyle/>
          <a:p>
            <a:fld id="{14B85FB5-A520-47D4-83F2-B9A1E840B246}" type="datetimeFigureOut">
              <a:rPr lang="en-US" smtClean="0"/>
              <a:t>10/18/2026</a:t>
            </a:fld>
            <a:endParaRPr lang="en-US"/>
          </a:p>
        </p:txBody>
      </p:sp>
      <p:sp>
        <p:nvSpPr>
          <p:cNvPr id="3" name="Footer Placeholder 2">
            <a:extLst>
              <a:ext uri="{FF2B5EF4-FFF2-40B4-BE49-F238E27FC236}">
                <a16:creationId xmlns:a16="http://schemas.microsoft.com/office/drawing/2014/main" id="{C599E375-72F0-F270-324E-CF203E2C5269}"/>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4C08DDD4-B46B-179D-F32B-AFDC78AA8BA9}"/>
              </a:ext>
            </a:extLst>
          </p:cNvPr>
          <p:cNvSpPr>
            <a:spLocks noGrp="1"/>
          </p:cNvSpPr>
          <p:nvPr>
            <p:ph type="sldNum" sz="quarter" idx="12"/>
          </p:nvPr>
        </p:nvSpPr>
        <p:spPr/>
        <p:txBody>
          <a:bodyPr/>
          <a:lstStyle/>
          <a:p>
            <a:fld id="{D2C2F722-B9BC-4748-9C1E-8740DD39547A}" type="slidenum">
              <a:rPr lang="en-US" smtClean="0"/>
              <a:t>‹#›</a:t>
            </a:fld>
            <a:endParaRPr lang="en-US"/>
          </a:p>
        </p:txBody>
      </p:sp>
    </p:spTree>
    <p:extLst>
      <p:ext uri="{BB962C8B-B14F-4D97-AF65-F5344CB8AC3E}">
        <p14:creationId xmlns:p14="http://schemas.microsoft.com/office/powerpoint/2010/main" val="217641520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44A758-CF97-F1F3-97C1-19EF5FA1730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BF5BBEFB-9A03-3696-22BC-E7B2B71723D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2B69425E-F79B-D48C-2FD7-7AD9DDAC0D9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12053CA-A8D3-244C-DFFE-7A76A6FA3EB0}"/>
              </a:ext>
            </a:extLst>
          </p:cNvPr>
          <p:cNvSpPr>
            <a:spLocks noGrp="1"/>
          </p:cNvSpPr>
          <p:nvPr>
            <p:ph type="dt" sz="half" idx="10"/>
          </p:nvPr>
        </p:nvSpPr>
        <p:spPr/>
        <p:txBody>
          <a:bodyPr/>
          <a:lstStyle/>
          <a:p>
            <a:fld id="{14B85FB5-A520-47D4-83F2-B9A1E840B246}" type="datetimeFigureOut">
              <a:rPr lang="en-US" smtClean="0"/>
              <a:t>10/18/2026</a:t>
            </a:fld>
            <a:endParaRPr lang="en-US"/>
          </a:p>
        </p:txBody>
      </p:sp>
      <p:sp>
        <p:nvSpPr>
          <p:cNvPr id="6" name="Footer Placeholder 5">
            <a:extLst>
              <a:ext uri="{FF2B5EF4-FFF2-40B4-BE49-F238E27FC236}">
                <a16:creationId xmlns:a16="http://schemas.microsoft.com/office/drawing/2014/main" id="{066FC70A-544E-8413-4624-A42558A10B7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E845415-53B3-5FB6-AAEC-7131995AE087}"/>
              </a:ext>
            </a:extLst>
          </p:cNvPr>
          <p:cNvSpPr>
            <a:spLocks noGrp="1"/>
          </p:cNvSpPr>
          <p:nvPr>
            <p:ph type="sldNum" sz="quarter" idx="12"/>
          </p:nvPr>
        </p:nvSpPr>
        <p:spPr/>
        <p:txBody>
          <a:bodyPr/>
          <a:lstStyle/>
          <a:p>
            <a:fld id="{D2C2F722-B9BC-4748-9C1E-8740DD39547A}" type="slidenum">
              <a:rPr lang="en-US" smtClean="0"/>
              <a:t>‹#›</a:t>
            </a:fld>
            <a:endParaRPr lang="en-US"/>
          </a:p>
        </p:txBody>
      </p:sp>
    </p:spTree>
    <p:extLst>
      <p:ext uri="{BB962C8B-B14F-4D97-AF65-F5344CB8AC3E}">
        <p14:creationId xmlns:p14="http://schemas.microsoft.com/office/powerpoint/2010/main" val="144202215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275696-EE47-40F9-3C4A-E8AF384F007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32AE5B3F-82CB-3ADD-A648-6BC0A6D52B98}"/>
              </a:ext>
            </a:extLst>
          </p:cNvPr>
          <p:cNvSpPr>
            <a:spLocks noGrp="1" noChangeAspect="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3D884915-3BE4-DF7C-28CA-4D038026440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E9E7FA4-A169-2DED-4486-AA93A970734A}"/>
              </a:ext>
            </a:extLst>
          </p:cNvPr>
          <p:cNvSpPr>
            <a:spLocks noGrp="1"/>
          </p:cNvSpPr>
          <p:nvPr>
            <p:ph type="dt" sz="half" idx="10"/>
          </p:nvPr>
        </p:nvSpPr>
        <p:spPr/>
        <p:txBody>
          <a:bodyPr/>
          <a:lstStyle/>
          <a:p>
            <a:fld id="{14B85FB5-A520-47D4-83F2-B9A1E840B246}" type="datetimeFigureOut">
              <a:rPr lang="en-US" smtClean="0"/>
              <a:t>10/18/2026</a:t>
            </a:fld>
            <a:endParaRPr lang="en-US"/>
          </a:p>
        </p:txBody>
      </p:sp>
      <p:sp>
        <p:nvSpPr>
          <p:cNvPr id="6" name="Footer Placeholder 5">
            <a:extLst>
              <a:ext uri="{FF2B5EF4-FFF2-40B4-BE49-F238E27FC236}">
                <a16:creationId xmlns:a16="http://schemas.microsoft.com/office/drawing/2014/main" id="{4C02EE4C-648B-70F8-A48B-DC0A3D5AAD3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6D81475-3AC4-42CF-B8AE-D15794B79220}"/>
              </a:ext>
            </a:extLst>
          </p:cNvPr>
          <p:cNvSpPr>
            <a:spLocks noGrp="1"/>
          </p:cNvSpPr>
          <p:nvPr>
            <p:ph type="sldNum" sz="quarter" idx="12"/>
          </p:nvPr>
        </p:nvSpPr>
        <p:spPr/>
        <p:txBody>
          <a:bodyPr/>
          <a:lstStyle/>
          <a:p>
            <a:fld id="{D2C2F722-B9BC-4748-9C1E-8740DD39547A}" type="slidenum">
              <a:rPr lang="en-US" smtClean="0"/>
              <a:t>‹#›</a:t>
            </a:fld>
            <a:endParaRPr lang="en-US"/>
          </a:p>
        </p:txBody>
      </p:sp>
    </p:spTree>
    <p:extLst>
      <p:ext uri="{BB962C8B-B14F-4D97-AF65-F5344CB8AC3E}">
        <p14:creationId xmlns:p14="http://schemas.microsoft.com/office/powerpoint/2010/main" val="24453917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E6F851-4EAC-F3F3-61C6-6D675848C3A5}"/>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D82748C2-5EED-2CE6-B64F-D6CE125435C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5FD896F-FCE8-62BD-F602-947A7F902E34}"/>
              </a:ext>
            </a:extLst>
          </p:cNvPr>
          <p:cNvSpPr>
            <a:spLocks noGrp="1"/>
          </p:cNvSpPr>
          <p:nvPr>
            <p:ph type="dt" sz="half" idx="10"/>
          </p:nvPr>
        </p:nvSpPr>
        <p:spPr/>
        <p:txBody>
          <a:bodyPr/>
          <a:lstStyle/>
          <a:p>
            <a:fld id="{14B85FB5-A520-47D4-83F2-B9A1E840B246}" type="datetimeFigureOut">
              <a:rPr lang="en-US" smtClean="0"/>
              <a:t>10/18/2026</a:t>
            </a:fld>
            <a:endParaRPr lang="en-US"/>
          </a:p>
        </p:txBody>
      </p:sp>
      <p:sp>
        <p:nvSpPr>
          <p:cNvPr id="5" name="Footer Placeholder 4">
            <a:extLst>
              <a:ext uri="{FF2B5EF4-FFF2-40B4-BE49-F238E27FC236}">
                <a16:creationId xmlns:a16="http://schemas.microsoft.com/office/drawing/2014/main" id="{22BDA5AD-86ED-09EF-54A5-5545C45C093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7F1CD9F-3888-1174-56B4-CB6C43475F2A}"/>
              </a:ext>
            </a:extLst>
          </p:cNvPr>
          <p:cNvSpPr>
            <a:spLocks noGrp="1"/>
          </p:cNvSpPr>
          <p:nvPr>
            <p:ph type="sldNum" sz="quarter" idx="12"/>
          </p:nvPr>
        </p:nvSpPr>
        <p:spPr/>
        <p:txBody>
          <a:bodyPr/>
          <a:lstStyle/>
          <a:p>
            <a:fld id="{D2C2F722-B9BC-4748-9C1E-8740DD39547A}" type="slidenum">
              <a:rPr lang="en-US" smtClean="0"/>
              <a:t>‹#›</a:t>
            </a:fld>
            <a:endParaRPr lang="en-US"/>
          </a:p>
        </p:txBody>
      </p:sp>
    </p:spTree>
    <p:extLst>
      <p:ext uri="{BB962C8B-B14F-4D97-AF65-F5344CB8AC3E}">
        <p14:creationId xmlns:p14="http://schemas.microsoft.com/office/powerpoint/2010/main" val="240289729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4B7BE68-2D25-36F8-DFD9-7FB46F095D88}"/>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70F5C81A-0062-A7AB-36EA-A21CD9530964}"/>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0FC31E9-8154-E949-089C-8F8B4DAB187D}"/>
              </a:ext>
            </a:extLst>
          </p:cNvPr>
          <p:cNvSpPr>
            <a:spLocks noGrp="1"/>
          </p:cNvSpPr>
          <p:nvPr>
            <p:ph type="dt" sz="half" idx="10"/>
          </p:nvPr>
        </p:nvSpPr>
        <p:spPr/>
        <p:txBody>
          <a:bodyPr/>
          <a:lstStyle/>
          <a:p>
            <a:fld id="{14B85FB5-A520-47D4-83F2-B9A1E840B246}" type="datetimeFigureOut">
              <a:rPr lang="en-US" smtClean="0"/>
              <a:t>10/18/2026</a:t>
            </a:fld>
            <a:endParaRPr lang="en-US"/>
          </a:p>
        </p:txBody>
      </p:sp>
      <p:sp>
        <p:nvSpPr>
          <p:cNvPr id="5" name="Footer Placeholder 4">
            <a:extLst>
              <a:ext uri="{FF2B5EF4-FFF2-40B4-BE49-F238E27FC236}">
                <a16:creationId xmlns:a16="http://schemas.microsoft.com/office/drawing/2014/main" id="{6D6E8EE6-8152-882A-9D04-EEB0A8A56F3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F18F72E-80B8-E680-E034-E365356F62B3}"/>
              </a:ext>
            </a:extLst>
          </p:cNvPr>
          <p:cNvSpPr>
            <a:spLocks noGrp="1"/>
          </p:cNvSpPr>
          <p:nvPr>
            <p:ph type="sldNum" sz="quarter" idx="12"/>
          </p:nvPr>
        </p:nvSpPr>
        <p:spPr/>
        <p:txBody>
          <a:bodyPr/>
          <a:lstStyle/>
          <a:p>
            <a:fld id="{D2C2F722-B9BC-4748-9C1E-8740DD39547A}" type="slidenum">
              <a:rPr lang="en-US" smtClean="0"/>
              <a:t>‹#›</a:t>
            </a:fld>
            <a:endParaRPr lang="en-US"/>
          </a:p>
        </p:txBody>
      </p:sp>
    </p:spTree>
    <p:extLst>
      <p:ext uri="{BB962C8B-B14F-4D97-AF65-F5344CB8AC3E}">
        <p14:creationId xmlns:p14="http://schemas.microsoft.com/office/powerpoint/2010/main" val="428314490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DF0C357-25EF-5874-0940-D3494BDE892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935D72EA-EE7D-E4B9-0684-9B446B722AE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99B8895-9B30-4DFB-6E46-B2AA4B314BB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14B85FB5-A520-47D4-83F2-B9A1E840B246}" type="datetimeFigureOut">
              <a:rPr lang="en-US" smtClean="0"/>
              <a:t>10/18/2026</a:t>
            </a:fld>
            <a:endParaRPr lang="en-US"/>
          </a:p>
        </p:txBody>
      </p:sp>
      <p:sp>
        <p:nvSpPr>
          <p:cNvPr id="5" name="Footer Placeholder 4">
            <a:extLst>
              <a:ext uri="{FF2B5EF4-FFF2-40B4-BE49-F238E27FC236}">
                <a16:creationId xmlns:a16="http://schemas.microsoft.com/office/drawing/2014/main" id="{060387E6-A828-D947-DCAA-76F7A728787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CEE00937-D248-41C3-0B7C-FE3A3B88475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D2C2F722-B9BC-4748-9C1E-8740DD39547A}" type="slidenum">
              <a:rPr lang="en-US" smtClean="0"/>
              <a:t>‹#›</a:t>
            </a:fld>
            <a:endParaRPr lang="en-US"/>
          </a:p>
        </p:txBody>
      </p:sp>
    </p:spTree>
    <p:extLst>
      <p:ext uri="{BB962C8B-B14F-4D97-AF65-F5344CB8AC3E}">
        <p14:creationId xmlns:p14="http://schemas.microsoft.com/office/powerpoint/2010/main" val="234645733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4292D"/>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D04A044-575F-35AD-F837-C2E09BC63227}"/>
              </a:ext>
            </a:extLst>
          </p:cNvPr>
          <p:cNvSpPr txBox="1"/>
          <p:nvPr/>
        </p:nvSpPr>
        <p:spPr>
          <a:xfrm>
            <a:off x="698500" y="1524000"/>
            <a:ext cx="10795000" cy="707886"/>
          </a:xfrm>
          <a:prstGeom prst="rect">
            <a:avLst/>
          </a:prstGeom>
          <a:noFill/>
        </p:spPr>
        <p:txBody>
          <a:bodyPr vert="horz" wrap="square" lIns="0" tIns="0" rIns="0" bIns="0" rtlCol="0">
            <a:spAutoFit/>
          </a:bodyPr>
          <a:lstStyle/>
          <a:p>
            <a:r>
              <a:rPr lang="en-US" sz="4600" b="1">
                <a:solidFill>
                  <a:srgbClr val="FFFFFF"/>
                </a:solidFill>
                <a:latin typeface="Segoe UI" panose="020B0502040204020203" pitchFamily="34" charset="0"/>
              </a:rPr>
              <a:t>Pineagent vs Codex</a:t>
            </a:r>
          </a:p>
        </p:txBody>
      </p:sp>
      <p:sp>
        <p:nvSpPr>
          <p:cNvPr id="3" name="TextBox 2">
            <a:extLst>
              <a:ext uri="{FF2B5EF4-FFF2-40B4-BE49-F238E27FC236}">
                <a16:creationId xmlns:a16="http://schemas.microsoft.com/office/drawing/2014/main" id="{74B38196-B458-30F7-F85E-C2203B2B9A26}"/>
              </a:ext>
            </a:extLst>
          </p:cNvPr>
          <p:cNvSpPr txBox="1"/>
          <p:nvPr/>
        </p:nvSpPr>
        <p:spPr>
          <a:xfrm>
            <a:off x="698500" y="2857500"/>
            <a:ext cx="10414000" cy="430887"/>
          </a:xfrm>
          <a:prstGeom prst="rect">
            <a:avLst/>
          </a:prstGeom>
          <a:noFill/>
        </p:spPr>
        <p:txBody>
          <a:bodyPr vert="horz" wrap="square" lIns="0" tIns="0" rIns="0" bIns="0" rtlCol="0">
            <a:spAutoFit/>
          </a:bodyPr>
          <a:lstStyle/>
          <a:p>
            <a:r>
              <a:rPr lang="en-US" sz="2800">
                <a:solidFill>
                  <a:srgbClr val="FFFFFF"/>
                </a:solidFill>
                <a:latin typeface="Segoe UI" panose="020B0502040204020203" pitchFamily="34" charset="0"/>
              </a:rPr>
              <a:t>Evaluation design and validation results</a:t>
            </a:r>
          </a:p>
        </p:txBody>
      </p:sp>
      <p:sp>
        <p:nvSpPr>
          <p:cNvPr id="4" name="TextBox 3">
            <a:extLst>
              <a:ext uri="{FF2B5EF4-FFF2-40B4-BE49-F238E27FC236}">
                <a16:creationId xmlns:a16="http://schemas.microsoft.com/office/drawing/2014/main" id="{CD3C8CBE-1158-BE8E-A4F1-9CD1EFE9E89E}"/>
              </a:ext>
            </a:extLst>
          </p:cNvPr>
          <p:cNvSpPr txBox="1"/>
          <p:nvPr/>
        </p:nvSpPr>
        <p:spPr>
          <a:xfrm>
            <a:off x="698500" y="4445000"/>
            <a:ext cx="10414000" cy="369332"/>
          </a:xfrm>
          <a:prstGeom prst="rect">
            <a:avLst/>
          </a:prstGeom>
          <a:noFill/>
        </p:spPr>
        <p:txBody>
          <a:bodyPr vert="horz" wrap="square" lIns="0" tIns="0" rIns="0" bIns="0" rtlCol="0">
            <a:spAutoFit/>
          </a:bodyPr>
          <a:lstStyle/>
          <a:p>
            <a:r>
              <a:rPr lang="en-US" sz="2400">
                <a:solidFill>
                  <a:srgbClr val="A6DEBE"/>
                </a:solidFill>
                <a:latin typeface="Segoe UI" panose="020B0502040204020203" pitchFamily="34" charset="0"/>
              </a:rPr>
              <a:t>Live performance comparison is pending</a:t>
            </a:r>
          </a:p>
        </p:txBody>
      </p:sp>
      <p:sp>
        <p:nvSpPr>
          <p:cNvPr id="5" name="TextBox 4">
            <a:extLst>
              <a:ext uri="{FF2B5EF4-FFF2-40B4-BE49-F238E27FC236}">
                <a16:creationId xmlns:a16="http://schemas.microsoft.com/office/drawing/2014/main" id="{CE6F7EAD-249D-1A53-B93B-7F4579890335}"/>
              </a:ext>
            </a:extLst>
          </p:cNvPr>
          <p:cNvSpPr txBox="1"/>
          <p:nvPr/>
        </p:nvSpPr>
        <p:spPr>
          <a:xfrm>
            <a:off x="698500" y="5905500"/>
            <a:ext cx="8255000" cy="261610"/>
          </a:xfrm>
          <a:prstGeom prst="rect">
            <a:avLst/>
          </a:prstGeom>
          <a:noFill/>
        </p:spPr>
        <p:txBody>
          <a:bodyPr vert="horz" wrap="square" lIns="0" tIns="0" rIns="0" bIns="0" rtlCol="0">
            <a:spAutoFit/>
          </a:bodyPr>
          <a:lstStyle/>
          <a:p>
            <a:r>
              <a:rPr lang="en-US" sz="1700">
                <a:solidFill>
                  <a:srgbClr val="FFFFFF"/>
                </a:solidFill>
                <a:latin typeface="Segoe UI" panose="020B0502040204020203" pitchFamily="34" charset="0"/>
              </a:rPr>
              <a:t>18 October 2026</a:t>
            </a:r>
          </a:p>
        </p:txBody>
      </p:sp>
    </p:spTree>
    <p:extLst>
      <p:ext uri="{BB962C8B-B14F-4D97-AF65-F5344CB8AC3E}">
        <p14:creationId xmlns:p14="http://schemas.microsoft.com/office/powerpoint/2010/main" val="365465849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7F8F4"/>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3AF5FFA-7471-FA00-C28D-9AAE8E67F4F5}"/>
              </a:ext>
            </a:extLst>
          </p:cNvPr>
          <p:cNvSpPr txBox="1"/>
          <p:nvPr/>
        </p:nvSpPr>
        <p:spPr>
          <a:xfrm>
            <a:off x="635000" y="508000"/>
            <a:ext cx="10922000" cy="492443"/>
          </a:xfrm>
          <a:prstGeom prst="rect">
            <a:avLst/>
          </a:prstGeom>
          <a:noFill/>
        </p:spPr>
        <p:txBody>
          <a:bodyPr vert="horz" wrap="square" lIns="0" tIns="0" rIns="0" bIns="0" rtlCol="0">
            <a:spAutoFit/>
          </a:bodyPr>
          <a:lstStyle/>
          <a:p>
            <a:r>
              <a:rPr lang="en-US" sz="3200" b="1">
                <a:solidFill>
                  <a:srgbClr val="14292D"/>
                </a:solidFill>
                <a:latin typeface="Segoe UI" panose="020B0502040204020203" pitchFamily="34" charset="0"/>
              </a:rPr>
              <a:t>Comparison arms</a:t>
            </a:r>
          </a:p>
        </p:txBody>
      </p:sp>
      <p:graphicFrame>
        <p:nvGraphicFramePr>
          <p:cNvPr id="3" name="Table 2">
            <a:extLst>
              <a:ext uri="{FF2B5EF4-FFF2-40B4-BE49-F238E27FC236}">
                <a16:creationId xmlns:a16="http://schemas.microsoft.com/office/drawing/2014/main" id="{BF846861-E6B9-1B1C-E96A-34FC11DCEAA8}"/>
              </a:ext>
            </a:extLst>
          </p:cNvPr>
          <p:cNvGraphicFramePr>
            <a:graphicFrameLocks noGrp="1"/>
          </p:cNvGraphicFramePr>
          <p:nvPr>
            <p:extLst>
              <p:ext uri="{D42A27DB-BD31-4B8C-83A1-F6EECF244321}">
                <p14:modId xmlns:p14="http://schemas.microsoft.com/office/powerpoint/2010/main" val="3526792408"/>
              </p:ext>
            </p:extLst>
          </p:nvPr>
        </p:nvGraphicFramePr>
        <p:xfrm>
          <a:off x="635000" y="1714500"/>
          <a:ext cx="10922000" cy="3556000"/>
        </p:xfrm>
        <a:graphic>
          <a:graphicData uri="http://schemas.openxmlformats.org/drawingml/2006/table">
            <a:tbl>
              <a:tblPr firstRow="1" bandRow="1">
                <a:tableStyleId>{5C22544A-7EE6-4342-B048-85BDC9FD1C3A}</a:tableStyleId>
              </a:tblPr>
              <a:tblGrid>
                <a:gridCol w="4445000">
                  <a:extLst>
                    <a:ext uri="{9D8B030D-6E8A-4147-A177-3AD203B41FA5}">
                      <a16:colId xmlns:a16="http://schemas.microsoft.com/office/drawing/2014/main" val="639700758"/>
                    </a:ext>
                  </a:extLst>
                </a:gridCol>
                <a:gridCol w="2794000">
                  <a:extLst>
                    <a:ext uri="{9D8B030D-6E8A-4147-A177-3AD203B41FA5}">
                      <a16:colId xmlns:a16="http://schemas.microsoft.com/office/drawing/2014/main" val="2801927021"/>
                    </a:ext>
                  </a:extLst>
                </a:gridCol>
                <a:gridCol w="3683000">
                  <a:extLst>
                    <a:ext uri="{9D8B030D-6E8A-4147-A177-3AD203B41FA5}">
                      <a16:colId xmlns:a16="http://schemas.microsoft.com/office/drawing/2014/main" val="81075917"/>
                    </a:ext>
                  </a:extLst>
                </a:gridCol>
              </a:tblGrid>
              <a:tr h="711200">
                <a:tc>
                  <a:txBody>
                    <a:bodyPr/>
                    <a:lstStyle/>
                    <a:p>
                      <a:r>
                        <a:rPr lang="en-US" sz="1800" b="1">
                          <a:solidFill>
                            <a:srgbClr val="14292D"/>
                          </a:solidFill>
                          <a:latin typeface="Segoe UI" panose="020B0502040204020203" pitchFamily="34" charset="0"/>
                        </a:rPr>
                        <a:t>Setting</a:t>
                      </a:r>
                    </a:p>
                  </a:txBody>
                  <a:tcPr marL="152400" marR="101600" marT="101600" marB="76200">
                    <a:solidFill>
                      <a:srgbClr val="DAEBE0"/>
                    </a:solidFill>
                  </a:tcPr>
                </a:tc>
                <a:tc>
                  <a:txBody>
                    <a:bodyPr/>
                    <a:lstStyle/>
                    <a:p>
                      <a:r>
                        <a:rPr lang="en-US" sz="1800" b="1">
                          <a:solidFill>
                            <a:srgbClr val="14292D"/>
                          </a:solidFill>
                          <a:latin typeface="Segoe UI" panose="020B0502040204020203" pitchFamily="34" charset="0"/>
                        </a:rPr>
                        <a:t>Pineagent arm</a:t>
                      </a:r>
                    </a:p>
                  </a:txBody>
                  <a:tcPr marL="152400" marR="101600" marT="101600" marB="76200">
                    <a:solidFill>
                      <a:srgbClr val="DAEBE0"/>
                    </a:solidFill>
                  </a:tcPr>
                </a:tc>
                <a:tc>
                  <a:txBody>
                    <a:bodyPr/>
                    <a:lstStyle/>
                    <a:p>
                      <a:r>
                        <a:rPr lang="en-US" sz="1800" b="1">
                          <a:solidFill>
                            <a:srgbClr val="14292D"/>
                          </a:solidFill>
                          <a:latin typeface="Segoe UI" panose="020B0502040204020203" pitchFamily="34" charset="0"/>
                        </a:rPr>
                        <a:t>Codex arm</a:t>
                      </a:r>
                    </a:p>
                  </a:txBody>
                  <a:tcPr marL="152400" marR="101600" marT="101600" marB="76200">
                    <a:solidFill>
                      <a:srgbClr val="DAEBE0"/>
                    </a:solidFill>
                  </a:tcPr>
                </a:tc>
                <a:extLst>
                  <a:ext uri="{0D108BD9-81ED-4DB2-BD59-A6C34878D82A}">
                    <a16:rowId xmlns:a16="http://schemas.microsoft.com/office/drawing/2014/main" val="1269403280"/>
                  </a:ext>
                </a:extLst>
              </a:tr>
              <a:tr h="711200">
                <a:tc>
                  <a:txBody>
                    <a:bodyPr/>
                    <a:lstStyle/>
                    <a:p>
                      <a:r>
                        <a:rPr lang="en-US" sz="1800" b="0">
                          <a:solidFill>
                            <a:srgbClr val="14292D"/>
                          </a:solidFill>
                          <a:latin typeface="Segoe UI" panose="020B0502040204020203" pitchFamily="34" charset="0"/>
                        </a:rPr>
                        <a:t>Agent policy</a:t>
                      </a:r>
                    </a:p>
                  </a:txBody>
                  <a:tcPr marL="152400" marR="101600" marT="101600" marB="76200">
                    <a:solidFill>
                      <a:srgbClr val="F7F8F4"/>
                    </a:solidFill>
                  </a:tcPr>
                </a:tc>
                <a:tc>
                  <a:txBody>
                    <a:bodyPr/>
                    <a:lstStyle/>
                    <a:p>
                      <a:r>
                        <a:rPr lang="en-US" sz="1800" b="0">
                          <a:solidFill>
                            <a:srgbClr val="14292D"/>
                          </a:solidFill>
                          <a:latin typeface="Segoe UI" panose="020B0502040204020203" pitchFamily="34" charset="0"/>
                        </a:rPr>
                        <a:t>Frozen V8 + warm fallback</a:t>
                      </a:r>
                    </a:p>
                  </a:txBody>
                  <a:tcPr marL="152400" marR="101600" marT="101600" marB="76200">
                    <a:solidFill>
                      <a:srgbClr val="F7F8F4"/>
                    </a:solidFill>
                  </a:tcPr>
                </a:tc>
                <a:tc>
                  <a:txBody>
                    <a:bodyPr/>
                    <a:lstStyle/>
                    <a:p>
                      <a:r>
                        <a:rPr lang="en-US" sz="1800" b="0">
                          <a:solidFill>
                            <a:srgbClr val="14292D"/>
                          </a:solidFill>
                          <a:latin typeface="Segoe UI" panose="020B0502040204020203" pitchFamily="34" charset="0"/>
                        </a:rPr>
                        <a:t>Codex CLI 0.163.0</a:t>
                      </a:r>
                    </a:p>
                  </a:txBody>
                  <a:tcPr marL="152400" marR="101600" marT="101600" marB="76200">
                    <a:solidFill>
                      <a:srgbClr val="F7F8F4"/>
                    </a:solidFill>
                  </a:tcPr>
                </a:tc>
                <a:extLst>
                  <a:ext uri="{0D108BD9-81ED-4DB2-BD59-A6C34878D82A}">
                    <a16:rowId xmlns:a16="http://schemas.microsoft.com/office/drawing/2014/main" val="2682184312"/>
                  </a:ext>
                </a:extLst>
              </a:tr>
              <a:tr h="711200">
                <a:tc>
                  <a:txBody>
                    <a:bodyPr/>
                    <a:lstStyle/>
                    <a:p>
                      <a:r>
                        <a:rPr lang="en-US" sz="1800" b="0">
                          <a:solidFill>
                            <a:srgbClr val="14292D"/>
                          </a:solidFill>
                          <a:latin typeface="Segoe UI" panose="020B0502040204020203" pitchFamily="34" charset="0"/>
                        </a:rPr>
                        <a:t>Coding model</a:t>
                      </a:r>
                    </a:p>
                  </a:txBody>
                  <a:tcPr marL="152400" marR="101600" marT="101600" marB="76200">
                    <a:solidFill>
                      <a:srgbClr val="F7F8F4"/>
                    </a:solidFill>
                  </a:tcPr>
                </a:tc>
                <a:tc>
                  <a:txBody>
                    <a:bodyPr/>
                    <a:lstStyle/>
                    <a:p>
                      <a:r>
                        <a:rPr lang="en-US" sz="1800" b="0">
                          <a:solidFill>
                            <a:srgbClr val="14292D"/>
                          </a:solidFill>
                          <a:latin typeface="Segoe UI" panose="020B0502040204020203" pitchFamily="34" charset="0"/>
                        </a:rPr>
                        <a:t>gpt-6-sol</a:t>
                      </a:r>
                    </a:p>
                  </a:txBody>
                  <a:tcPr marL="152400" marR="101600" marT="101600" marB="76200">
                    <a:solidFill>
                      <a:srgbClr val="F7F8F4"/>
                    </a:solidFill>
                  </a:tcPr>
                </a:tc>
                <a:tc>
                  <a:txBody>
                    <a:bodyPr/>
                    <a:lstStyle/>
                    <a:p>
                      <a:r>
                        <a:rPr lang="en-US" sz="1800" b="0">
                          <a:solidFill>
                            <a:srgbClr val="14292D"/>
                          </a:solidFill>
                          <a:latin typeface="Segoe UI" panose="020B0502040204020203" pitchFamily="34" charset="0"/>
                        </a:rPr>
                        <a:t>gpt-6-sol</a:t>
                      </a:r>
                    </a:p>
                  </a:txBody>
                  <a:tcPr marL="152400" marR="101600" marT="101600" marB="76200">
                    <a:solidFill>
                      <a:srgbClr val="F7F8F4"/>
                    </a:solidFill>
                  </a:tcPr>
                </a:tc>
                <a:extLst>
                  <a:ext uri="{0D108BD9-81ED-4DB2-BD59-A6C34878D82A}">
                    <a16:rowId xmlns:a16="http://schemas.microsoft.com/office/drawing/2014/main" val="4215969452"/>
                  </a:ext>
                </a:extLst>
              </a:tr>
              <a:tr h="711200">
                <a:tc>
                  <a:txBody>
                    <a:bodyPr/>
                    <a:lstStyle/>
                    <a:p>
                      <a:r>
                        <a:rPr lang="en-US" sz="1800" b="0">
                          <a:solidFill>
                            <a:srgbClr val="14292D"/>
                          </a:solidFill>
                          <a:latin typeface="Segoe UI" panose="020B0502040204020203" pitchFamily="34" charset="0"/>
                        </a:rPr>
                        <a:t>Reasoning effort</a:t>
                      </a:r>
                    </a:p>
                  </a:txBody>
                  <a:tcPr marL="152400" marR="101600" marT="101600" marB="76200">
                    <a:solidFill>
                      <a:srgbClr val="F7F8F4"/>
                    </a:solidFill>
                  </a:tcPr>
                </a:tc>
                <a:tc>
                  <a:txBody>
                    <a:bodyPr/>
                    <a:lstStyle/>
                    <a:p>
                      <a:r>
                        <a:rPr lang="en-US" sz="1800" b="0">
                          <a:solidFill>
                            <a:srgbClr val="14292D"/>
                          </a:solidFill>
                          <a:latin typeface="Segoe UI" panose="020B0502040204020203" pitchFamily="34" charset="0"/>
                        </a:rPr>
                        <a:t>Medium</a:t>
                      </a:r>
                    </a:p>
                  </a:txBody>
                  <a:tcPr marL="152400" marR="101600" marT="101600" marB="76200">
                    <a:solidFill>
                      <a:srgbClr val="F7F8F4"/>
                    </a:solidFill>
                  </a:tcPr>
                </a:tc>
                <a:tc>
                  <a:txBody>
                    <a:bodyPr/>
                    <a:lstStyle/>
                    <a:p>
                      <a:r>
                        <a:rPr lang="en-US" sz="1800" b="0">
                          <a:solidFill>
                            <a:srgbClr val="14292D"/>
                          </a:solidFill>
                          <a:latin typeface="Segoe UI" panose="020B0502040204020203" pitchFamily="34" charset="0"/>
                        </a:rPr>
                        <a:t>Medium</a:t>
                      </a:r>
                    </a:p>
                  </a:txBody>
                  <a:tcPr marL="152400" marR="101600" marT="101600" marB="76200">
                    <a:solidFill>
                      <a:srgbClr val="F7F8F4"/>
                    </a:solidFill>
                  </a:tcPr>
                </a:tc>
                <a:extLst>
                  <a:ext uri="{0D108BD9-81ED-4DB2-BD59-A6C34878D82A}">
                    <a16:rowId xmlns:a16="http://schemas.microsoft.com/office/drawing/2014/main" val="2659370982"/>
                  </a:ext>
                </a:extLst>
              </a:tr>
              <a:tr h="711200">
                <a:tc>
                  <a:txBody>
                    <a:bodyPr/>
                    <a:lstStyle/>
                    <a:p>
                      <a:r>
                        <a:rPr lang="en-US" sz="1800" b="0">
                          <a:solidFill>
                            <a:srgbClr val="14292D"/>
                          </a:solidFill>
                          <a:latin typeface="Segoe UI" panose="020B0502040204020203" pitchFamily="34" charset="0"/>
                        </a:rPr>
                        <a:t>Environment</a:t>
                      </a:r>
                    </a:p>
                  </a:txBody>
                  <a:tcPr marL="152400" marR="101600" marT="101600" marB="76200">
                    <a:solidFill>
                      <a:srgbClr val="F7F8F4"/>
                    </a:solidFill>
                  </a:tcPr>
                </a:tc>
                <a:tc>
                  <a:txBody>
                    <a:bodyPr/>
                    <a:lstStyle/>
                    <a:p>
                      <a:r>
                        <a:rPr lang="en-US" sz="1800" b="0">
                          <a:solidFill>
                            <a:srgbClr val="14292D"/>
                          </a:solidFill>
                          <a:latin typeface="Segoe UI" panose="020B0502040204020203" pitchFamily="34" charset="0"/>
                        </a:rPr>
                        <a:t>Fresh Docker container</a:t>
                      </a:r>
                    </a:p>
                  </a:txBody>
                  <a:tcPr marL="152400" marR="101600" marT="101600" marB="76200">
                    <a:solidFill>
                      <a:srgbClr val="F7F8F4"/>
                    </a:solidFill>
                  </a:tcPr>
                </a:tc>
                <a:tc>
                  <a:txBody>
                    <a:bodyPr/>
                    <a:lstStyle/>
                    <a:p>
                      <a:r>
                        <a:rPr lang="en-US" sz="1800" b="0">
                          <a:solidFill>
                            <a:srgbClr val="14292D"/>
                          </a:solidFill>
                          <a:latin typeface="Segoe UI" panose="020B0502040204020203" pitchFamily="34" charset="0"/>
                        </a:rPr>
                        <a:t>Fresh Docker container</a:t>
                      </a:r>
                    </a:p>
                  </a:txBody>
                  <a:tcPr marL="152400" marR="101600" marT="101600" marB="76200">
                    <a:solidFill>
                      <a:srgbClr val="F7F8F4"/>
                    </a:solidFill>
                  </a:tcPr>
                </a:tc>
                <a:extLst>
                  <a:ext uri="{0D108BD9-81ED-4DB2-BD59-A6C34878D82A}">
                    <a16:rowId xmlns:a16="http://schemas.microsoft.com/office/drawing/2014/main" val="1617143690"/>
                  </a:ext>
                </a:extLst>
              </a:tr>
            </a:tbl>
          </a:graphicData>
        </a:graphic>
      </p:graphicFrame>
      <p:sp>
        <p:nvSpPr>
          <p:cNvPr id="4" name="TextBox 3">
            <a:extLst>
              <a:ext uri="{FF2B5EF4-FFF2-40B4-BE49-F238E27FC236}">
                <a16:creationId xmlns:a16="http://schemas.microsoft.com/office/drawing/2014/main" id="{6325D979-25CF-2B42-EF4B-10DA3B62BCB6}"/>
              </a:ext>
            </a:extLst>
          </p:cNvPr>
          <p:cNvSpPr txBox="1"/>
          <p:nvPr/>
        </p:nvSpPr>
        <p:spPr>
          <a:xfrm>
            <a:off x="635000" y="5689600"/>
            <a:ext cx="10922000" cy="323165"/>
          </a:xfrm>
          <a:prstGeom prst="rect">
            <a:avLst/>
          </a:prstGeom>
          <a:noFill/>
        </p:spPr>
        <p:txBody>
          <a:bodyPr vert="horz" wrap="square" lIns="0" tIns="0" rIns="0" bIns="0" rtlCol="0">
            <a:spAutoFit/>
          </a:bodyPr>
          <a:lstStyle/>
          <a:p>
            <a:r>
              <a:rPr lang="en-US" sz="2100">
                <a:solidFill>
                  <a:srgbClr val="4C6061"/>
                </a:solidFill>
                <a:latin typeface="Segoe UI" panose="020B0502040204020203" pitchFamily="34" charset="0"/>
              </a:rPr>
              <a:t>Same issue, starting files, resource limits and independent hidden tests.</a:t>
            </a:r>
          </a:p>
        </p:txBody>
      </p:sp>
    </p:spTree>
    <p:extLst>
      <p:ext uri="{BB962C8B-B14F-4D97-AF65-F5344CB8AC3E}">
        <p14:creationId xmlns:p14="http://schemas.microsoft.com/office/powerpoint/2010/main" val="401113414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7F8F4"/>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B656CA4-965D-D66E-97AF-3CEBA47D6D72}"/>
              </a:ext>
            </a:extLst>
          </p:cNvPr>
          <p:cNvSpPr txBox="1"/>
          <p:nvPr/>
        </p:nvSpPr>
        <p:spPr>
          <a:xfrm>
            <a:off x="635000" y="508000"/>
            <a:ext cx="10922000" cy="492443"/>
          </a:xfrm>
          <a:prstGeom prst="rect">
            <a:avLst/>
          </a:prstGeom>
          <a:noFill/>
        </p:spPr>
        <p:txBody>
          <a:bodyPr vert="horz" wrap="square" lIns="0" tIns="0" rIns="0" bIns="0" rtlCol="0">
            <a:spAutoFit/>
          </a:bodyPr>
          <a:lstStyle/>
          <a:p>
            <a:r>
              <a:rPr lang="en-US" sz="3200" b="1">
                <a:solidFill>
                  <a:srgbClr val="14292D"/>
                </a:solidFill>
                <a:latin typeface="Segoe UI" panose="020B0502040204020203" pitchFamily="34" charset="0"/>
              </a:rPr>
              <a:t>Observed validation results</a:t>
            </a:r>
          </a:p>
        </p:txBody>
      </p:sp>
      <p:graphicFrame>
        <p:nvGraphicFramePr>
          <p:cNvPr id="3" name="Table 2">
            <a:extLst>
              <a:ext uri="{FF2B5EF4-FFF2-40B4-BE49-F238E27FC236}">
                <a16:creationId xmlns:a16="http://schemas.microsoft.com/office/drawing/2014/main" id="{92454126-C321-796E-1A51-52B590B4E416}"/>
              </a:ext>
            </a:extLst>
          </p:cNvPr>
          <p:cNvGraphicFramePr>
            <a:graphicFrameLocks noGrp="1"/>
          </p:cNvGraphicFramePr>
          <p:nvPr>
            <p:extLst>
              <p:ext uri="{D42A27DB-BD31-4B8C-83A1-F6EECF244321}">
                <p14:modId xmlns:p14="http://schemas.microsoft.com/office/powerpoint/2010/main" val="3693402989"/>
              </p:ext>
            </p:extLst>
          </p:nvPr>
        </p:nvGraphicFramePr>
        <p:xfrm>
          <a:off x="635000" y="1714500"/>
          <a:ext cx="10922000" cy="3619500"/>
        </p:xfrm>
        <a:graphic>
          <a:graphicData uri="http://schemas.openxmlformats.org/drawingml/2006/table">
            <a:tbl>
              <a:tblPr firstRow="1" bandRow="1">
                <a:tableStyleId>{5C22544A-7EE6-4342-B048-85BDC9FD1C3A}</a:tableStyleId>
              </a:tblPr>
              <a:tblGrid>
                <a:gridCol w="4445000">
                  <a:extLst>
                    <a:ext uri="{9D8B030D-6E8A-4147-A177-3AD203B41FA5}">
                      <a16:colId xmlns:a16="http://schemas.microsoft.com/office/drawing/2014/main" val="1628162413"/>
                    </a:ext>
                  </a:extLst>
                </a:gridCol>
                <a:gridCol w="2794000">
                  <a:extLst>
                    <a:ext uri="{9D8B030D-6E8A-4147-A177-3AD203B41FA5}">
                      <a16:colId xmlns:a16="http://schemas.microsoft.com/office/drawing/2014/main" val="1108739121"/>
                    </a:ext>
                  </a:extLst>
                </a:gridCol>
                <a:gridCol w="3683000">
                  <a:extLst>
                    <a:ext uri="{9D8B030D-6E8A-4147-A177-3AD203B41FA5}">
                      <a16:colId xmlns:a16="http://schemas.microsoft.com/office/drawing/2014/main" val="4113091057"/>
                    </a:ext>
                  </a:extLst>
                </a:gridCol>
              </a:tblGrid>
              <a:tr h="723900">
                <a:tc>
                  <a:txBody>
                    <a:bodyPr/>
                    <a:lstStyle/>
                    <a:p>
                      <a:r>
                        <a:rPr lang="en-US" sz="1800" b="1">
                          <a:solidFill>
                            <a:srgbClr val="14292D"/>
                          </a:solidFill>
                          <a:latin typeface="Segoe UI" panose="020B0502040204020203" pitchFamily="34" charset="0"/>
                        </a:rPr>
                        <a:t>Check</a:t>
                      </a:r>
                    </a:p>
                  </a:txBody>
                  <a:tcPr marL="152400" marR="101600" marT="101600" marB="76200">
                    <a:solidFill>
                      <a:srgbClr val="DAEBE0"/>
                    </a:solidFill>
                  </a:tcPr>
                </a:tc>
                <a:tc>
                  <a:txBody>
                    <a:bodyPr/>
                    <a:lstStyle/>
                    <a:p>
                      <a:r>
                        <a:rPr lang="en-US" sz="1800" b="1">
                          <a:solidFill>
                            <a:srgbClr val="14292D"/>
                          </a:solidFill>
                          <a:latin typeface="Segoe UI" panose="020B0502040204020203" pitchFamily="34" charset="0"/>
                        </a:rPr>
                        <a:t>Observed result</a:t>
                      </a:r>
                    </a:p>
                  </a:txBody>
                  <a:tcPr marL="152400" marR="101600" marT="101600" marB="76200">
                    <a:solidFill>
                      <a:srgbClr val="DAEBE0"/>
                    </a:solidFill>
                  </a:tcPr>
                </a:tc>
                <a:tc>
                  <a:txBody>
                    <a:bodyPr/>
                    <a:lstStyle/>
                    <a:p>
                      <a:r>
                        <a:rPr lang="en-US" sz="1800" b="1">
                          <a:solidFill>
                            <a:srgbClr val="14292D"/>
                          </a:solidFill>
                          <a:latin typeface="Segoe UI" panose="020B0502040204020203" pitchFamily="34" charset="0"/>
                        </a:rPr>
                        <a:t>Interpretation</a:t>
                      </a:r>
                    </a:p>
                  </a:txBody>
                  <a:tcPr marL="152400" marR="101600" marT="101600" marB="76200">
                    <a:solidFill>
                      <a:srgbClr val="DAEBE0"/>
                    </a:solidFill>
                  </a:tcPr>
                </a:tc>
                <a:extLst>
                  <a:ext uri="{0D108BD9-81ED-4DB2-BD59-A6C34878D82A}">
                    <a16:rowId xmlns:a16="http://schemas.microsoft.com/office/drawing/2014/main" val="1139852486"/>
                  </a:ext>
                </a:extLst>
              </a:tr>
              <a:tr h="723900">
                <a:tc>
                  <a:txBody>
                    <a:bodyPr/>
                    <a:lstStyle/>
                    <a:p>
                      <a:r>
                        <a:rPr lang="en-US" sz="1800" b="0">
                          <a:solidFill>
                            <a:srgbClr val="14292D"/>
                          </a:solidFill>
                          <a:latin typeface="Segoe UI" panose="020B0502040204020203" pitchFamily="34" charset="0"/>
                        </a:rPr>
                        <a:t>Testbench automated tests</a:t>
                      </a:r>
                    </a:p>
                  </a:txBody>
                  <a:tcPr marL="152400" marR="101600" marT="101600" marB="76200">
                    <a:solidFill>
                      <a:srgbClr val="F7F8F4"/>
                    </a:solidFill>
                  </a:tcPr>
                </a:tc>
                <a:tc>
                  <a:txBody>
                    <a:bodyPr/>
                    <a:lstStyle/>
                    <a:p>
                      <a:r>
                        <a:rPr lang="en-US" sz="1800" b="0">
                          <a:solidFill>
                            <a:srgbClr val="14292D"/>
                          </a:solidFill>
                          <a:latin typeface="Segoe UI" panose="020B0502040204020203" pitchFamily="34" charset="0"/>
                        </a:rPr>
                        <a:t>11 / 11 passed</a:t>
                      </a:r>
                    </a:p>
                  </a:txBody>
                  <a:tcPr marL="152400" marR="101600" marT="101600" marB="76200">
                    <a:solidFill>
                      <a:srgbClr val="F7F8F4"/>
                    </a:solidFill>
                  </a:tcPr>
                </a:tc>
                <a:tc>
                  <a:txBody>
                    <a:bodyPr/>
                    <a:lstStyle/>
                    <a:p>
                      <a:r>
                        <a:rPr lang="en-US" sz="1800" b="0">
                          <a:solidFill>
                            <a:srgbClr val="14292D"/>
                          </a:solidFill>
                          <a:latin typeface="Segoe UI" panose="020B0502040204020203" pitchFamily="34" charset="0"/>
                        </a:rPr>
                        <a:t>Evaluator checks</a:t>
                      </a:r>
                    </a:p>
                  </a:txBody>
                  <a:tcPr marL="152400" marR="101600" marT="101600" marB="76200">
                    <a:solidFill>
                      <a:srgbClr val="F7F8F4"/>
                    </a:solidFill>
                  </a:tcPr>
                </a:tc>
                <a:extLst>
                  <a:ext uri="{0D108BD9-81ED-4DB2-BD59-A6C34878D82A}">
                    <a16:rowId xmlns:a16="http://schemas.microsoft.com/office/drawing/2014/main" val="1583468587"/>
                  </a:ext>
                </a:extLst>
              </a:tr>
              <a:tr h="723900">
                <a:tc>
                  <a:txBody>
                    <a:bodyPr/>
                    <a:lstStyle/>
                    <a:p>
                      <a:r>
                        <a:rPr lang="en-US" sz="1800" b="0">
                          <a:solidFill>
                            <a:srgbClr val="14292D"/>
                          </a:solidFill>
                          <a:latin typeface="Segoe UI" panose="020B0502040204020203" pitchFamily="34" charset="0"/>
                        </a:rPr>
                        <a:t>Frozen harness offline tests</a:t>
                      </a:r>
                    </a:p>
                  </a:txBody>
                  <a:tcPr marL="152400" marR="101600" marT="101600" marB="76200">
                    <a:solidFill>
                      <a:srgbClr val="F7F8F4"/>
                    </a:solidFill>
                  </a:tcPr>
                </a:tc>
                <a:tc>
                  <a:txBody>
                    <a:bodyPr/>
                    <a:lstStyle/>
                    <a:p>
                      <a:r>
                        <a:rPr lang="en-US" sz="1800" b="0">
                          <a:solidFill>
                            <a:srgbClr val="14292D"/>
                          </a:solidFill>
                          <a:latin typeface="Segoe UI" panose="020B0502040204020203" pitchFamily="34" charset="0"/>
                        </a:rPr>
                        <a:t>46 / 46 passed</a:t>
                      </a:r>
                    </a:p>
                  </a:txBody>
                  <a:tcPr marL="152400" marR="101600" marT="101600" marB="76200">
                    <a:solidFill>
                      <a:srgbClr val="F7F8F4"/>
                    </a:solidFill>
                  </a:tcPr>
                </a:tc>
                <a:tc>
                  <a:txBody>
                    <a:bodyPr/>
                    <a:lstStyle/>
                    <a:p>
                      <a:r>
                        <a:rPr lang="en-US" sz="1800" b="0">
                          <a:solidFill>
                            <a:srgbClr val="14292D"/>
                          </a:solidFill>
                          <a:latin typeface="Segoe UI" panose="020B0502040204020203" pitchFamily="34" charset="0"/>
                        </a:rPr>
                        <a:t>Runtime regression checks</a:t>
                      </a:r>
                    </a:p>
                  </a:txBody>
                  <a:tcPr marL="152400" marR="101600" marT="101600" marB="76200">
                    <a:solidFill>
                      <a:srgbClr val="F7F8F4"/>
                    </a:solidFill>
                  </a:tcPr>
                </a:tc>
                <a:extLst>
                  <a:ext uri="{0D108BD9-81ED-4DB2-BD59-A6C34878D82A}">
                    <a16:rowId xmlns:a16="http://schemas.microsoft.com/office/drawing/2014/main" val="4282552281"/>
                  </a:ext>
                </a:extLst>
              </a:tr>
              <a:tr h="723900">
                <a:tc>
                  <a:txBody>
                    <a:bodyPr/>
                    <a:lstStyle/>
                    <a:p>
                      <a:r>
                        <a:rPr lang="en-US" sz="1800" b="0">
                          <a:solidFill>
                            <a:srgbClr val="14292D"/>
                          </a:solidFill>
                          <a:latin typeface="Segoe UI" panose="020B0502040204020203" pitchFamily="34" charset="0"/>
                        </a:rPr>
                        <a:t>Reference fixes</a:t>
                      </a:r>
                    </a:p>
                  </a:txBody>
                  <a:tcPr marL="152400" marR="101600" marT="101600" marB="76200">
                    <a:solidFill>
                      <a:srgbClr val="F7F8F4"/>
                    </a:solidFill>
                  </a:tcPr>
                </a:tc>
                <a:tc>
                  <a:txBody>
                    <a:bodyPr/>
                    <a:lstStyle/>
                    <a:p>
                      <a:r>
                        <a:rPr lang="en-US" sz="1800" b="0">
                          <a:solidFill>
                            <a:srgbClr val="14292D"/>
                          </a:solidFill>
                          <a:latin typeface="Segoe UI" panose="020B0502040204020203" pitchFamily="34" charset="0"/>
                        </a:rPr>
                        <a:t>16 / 16 passed</a:t>
                      </a:r>
                    </a:p>
                  </a:txBody>
                  <a:tcPr marL="152400" marR="101600" marT="101600" marB="76200">
                    <a:solidFill>
                      <a:srgbClr val="F7F8F4"/>
                    </a:solidFill>
                  </a:tcPr>
                </a:tc>
                <a:tc>
                  <a:txBody>
                    <a:bodyPr/>
                    <a:lstStyle/>
                    <a:p>
                      <a:r>
                        <a:rPr lang="en-US" sz="1800" b="0">
                          <a:solidFill>
                            <a:srgbClr val="14292D"/>
                          </a:solidFill>
                          <a:latin typeface="Segoe UI" panose="020B0502040204020203" pitchFamily="34" charset="0"/>
                        </a:rPr>
                        <a:t>Known fixes validate tests</a:t>
                      </a:r>
                    </a:p>
                  </a:txBody>
                  <a:tcPr marL="152400" marR="101600" marT="101600" marB="76200">
                    <a:solidFill>
                      <a:srgbClr val="F7F8F4"/>
                    </a:solidFill>
                  </a:tcPr>
                </a:tc>
                <a:extLst>
                  <a:ext uri="{0D108BD9-81ED-4DB2-BD59-A6C34878D82A}">
                    <a16:rowId xmlns:a16="http://schemas.microsoft.com/office/drawing/2014/main" val="2327914931"/>
                  </a:ext>
                </a:extLst>
              </a:tr>
              <a:tr h="723900">
                <a:tc>
                  <a:txBody>
                    <a:bodyPr/>
                    <a:lstStyle/>
                    <a:p>
                      <a:r>
                        <a:rPr lang="en-US" sz="1800" b="0">
                          <a:solidFill>
                            <a:srgbClr val="14292D"/>
                          </a:solidFill>
                          <a:latin typeface="Segoe UI" panose="020B0502040204020203" pitchFamily="34" charset="0"/>
                        </a:rPr>
                        <a:t>Docker smoke trials</a:t>
                      </a:r>
                    </a:p>
                  </a:txBody>
                  <a:tcPr marL="152400" marR="101600" marT="101600" marB="76200">
                    <a:solidFill>
                      <a:srgbClr val="F7F8F4"/>
                    </a:solidFill>
                  </a:tcPr>
                </a:tc>
                <a:tc>
                  <a:txBody>
                    <a:bodyPr/>
                    <a:lstStyle/>
                    <a:p>
                      <a:r>
                        <a:rPr lang="en-US" sz="1800" b="0">
                          <a:solidFill>
                            <a:srgbClr val="14292D"/>
                          </a:solidFill>
                          <a:latin typeface="Segoe UI" panose="020B0502040204020203" pitchFamily="34" charset="0"/>
                        </a:rPr>
                        <a:t>4 / 4 completed</a:t>
                      </a:r>
                    </a:p>
                  </a:txBody>
                  <a:tcPr marL="152400" marR="101600" marT="101600" marB="76200">
                    <a:solidFill>
                      <a:srgbClr val="F7F8F4"/>
                    </a:solidFill>
                  </a:tcPr>
                </a:tc>
                <a:tc>
                  <a:txBody>
                    <a:bodyPr/>
                    <a:lstStyle/>
                    <a:p>
                      <a:r>
                        <a:rPr lang="en-US" sz="1800" b="0">
                          <a:solidFill>
                            <a:srgbClr val="14292D"/>
                          </a:solidFill>
                          <a:latin typeface="Segoe UI" panose="020B0502040204020203" pitchFamily="34" charset="0"/>
                        </a:rPr>
                        <a:t>Unchanged bugs still fail</a:t>
                      </a:r>
                    </a:p>
                  </a:txBody>
                  <a:tcPr marL="152400" marR="101600" marT="101600" marB="76200">
                    <a:solidFill>
                      <a:srgbClr val="F7F8F4"/>
                    </a:solidFill>
                  </a:tcPr>
                </a:tc>
                <a:extLst>
                  <a:ext uri="{0D108BD9-81ED-4DB2-BD59-A6C34878D82A}">
                    <a16:rowId xmlns:a16="http://schemas.microsoft.com/office/drawing/2014/main" val="3851987096"/>
                  </a:ext>
                </a:extLst>
              </a:tr>
            </a:tbl>
          </a:graphicData>
        </a:graphic>
      </p:graphicFrame>
      <p:sp>
        <p:nvSpPr>
          <p:cNvPr id="4" name="TextBox 3">
            <a:extLst>
              <a:ext uri="{FF2B5EF4-FFF2-40B4-BE49-F238E27FC236}">
                <a16:creationId xmlns:a16="http://schemas.microsoft.com/office/drawing/2014/main" id="{43FE25D6-E371-8764-0EDE-91B203601514}"/>
              </a:ext>
            </a:extLst>
          </p:cNvPr>
          <p:cNvSpPr txBox="1"/>
          <p:nvPr/>
        </p:nvSpPr>
        <p:spPr>
          <a:xfrm>
            <a:off x="635000" y="5715000"/>
            <a:ext cx="10922000" cy="338554"/>
          </a:xfrm>
          <a:prstGeom prst="rect">
            <a:avLst/>
          </a:prstGeom>
          <a:noFill/>
        </p:spPr>
        <p:txBody>
          <a:bodyPr vert="horz" wrap="square" lIns="0" tIns="0" rIns="0" bIns="0" rtlCol="0">
            <a:spAutoFit/>
          </a:bodyPr>
          <a:lstStyle/>
          <a:p>
            <a:r>
              <a:rPr lang="en-US" sz="2200" b="1">
                <a:solidFill>
                  <a:srgbClr val="11705B"/>
                </a:solidFill>
                <a:latin typeface="Segoe UI" panose="020B0502040204020203" pitchFamily="34" charset="0"/>
              </a:rPr>
              <a:t>Zero live model requests. Token savings and coding success remain unmeasured.</a:t>
            </a:r>
          </a:p>
        </p:txBody>
      </p:sp>
    </p:spTree>
    <p:extLst>
      <p:ext uri="{BB962C8B-B14F-4D97-AF65-F5344CB8AC3E}">
        <p14:creationId xmlns:p14="http://schemas.microsoft.com/office/powerpoint/2010/main" val="49992693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7F8F4"/>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3146B23-7C7F-581D-F18A-5BAD0A5FB132}"/>
              </a:ext>
            </a:extLst>
          </p:cNvPr>
          <p:cNvSpPr txBox="1"/>
          <p:nvPr/>
        </p:nvSpPr>
        <p:spPr>
          <a:xfrm>
            <a:off x="635000" y="508000"/>
            <a:ext cx="10922000" cy="492443"/>
          </a:xfrm>
          <a:prstGeom prst="rect">
            <a:avLst/>
          </a:prstGeom>
          <a:noFill/>
        </p:spPr>
        <p:txBody>
          <a:bodyPr vert="horz" wrap="square" lIns="0" tIns="0" rIns="0" bIns="0" rtlCol="0">
            <a:spAutoFit/>
          </a:bodyPr>
          <a:lstStyle/>
          <a:p>
            <a:r>
              <a:rPr lang="en-US" sz="3200" b="1">
                <a:solidFill>
                  <a:srgbClr val="14292D"/>
                </a:solidFill>
                <a:latin typeface="Segoe UI" panose="020B0502040204020203" pitchFamily="34" charset="0"/>
              </a:rPr>
              <a:t>Token accounting</a:t>
            </a:r>
          </a:p>
        </p:txBody>
      </p:sp>
      <p:sp>
        <p:nvSpPr>
          <p:cNvPr id="3" name="TextBox 2">
            <a:extLst>
              <a:ext uri="{FF2B5EF4-FFF2-40B4-BE49-F238E27FC236}">
                <a16:creationId xmlns:a16="http://schemas.microsoft.com/office/drawing/2014/main" id="{C5D4F719-AE0E-C5C0-9F3B-ACDF1B3A500B}"/>
              </a:ext>
            </a:extLst>
          </p:cNvPr>
          <p:cNvSpPr txBox="1"/>
          <p:nvPr/>
        </p:nvSpPr>
        <p:spPr>
          <a:xfrm>
            <a:off x="635000" y="1778000"/>
            <a:ext cx="10922000" cy="461665"/>
          </a:xfrm>
          <a:prstGeom prst="rect">
            <a:avLst/>
          </a:prstGeom>
          <a:noFill/>
        </p:spPr>
        <p:txBody>
          <a:bodyPr vert="horz" wrap="square" lIns="0" tIns="0" rIns="0" bIns="0" rtlCol="0">
            <a:spAutoFit/>
          </a:bodyPr>
          <a:lstStyle/>
          <a:p>
            <a:r>
              <a:rPr lang="en-US" sz="3000" b="1">
                <a:solidFill>
                  <a:srgbClr val="11705B"/>
                </a:solidFill>
                <a:latin typeface="Segoe UI" panose="020B0502040204020203" pitchFamily="34" charset="0"/>
              </a:rPr>
              <a:t>Total tokens = input tokens + output tokens</a:t>
            </a:r>
          </a:p>
        </p:txBody>
      </p:sp>
      <p:sp>
        <p:nvSpPr>
          <p:cNvPr id="4" name="TextBox 3">
            <a:extLst>
              <a:ext uri="{FF2B5EF4-FFF2-40B4-BE49-F238E27FC236}">
                <a16:creationId xmlns:a16="http://schemas.microsoft.com/office/drawing/2014/main" id="{0CE0BF72-5CBA-CE5B-D2EF-F40AECCB17CE}"/>
              </a:ext>
            </a:extLst>
          </p:cNvPr>
          <p:cNvSpPr txBox="1"/>
          <p:nvPr/>
        </p:nvSpPr>
        <p:spPr>
          <a:xfrm>
            <a:off x="635000" y="3175000"/>
            <a:ext cx="10795000" cy="369332"/>
          </a:xfrm>
          <a:prstGeom prst="rect">
            <a:avLst/>
          </a:prstGeom>
          <a:noFill/>
        </p:spPr>
        <p:txBody>
          <a:bodyPr vert="horz" wrap="square" lIns="0" tIns="0" rIns="0" bIns="0" rtlCol="0">
            <a:spAutoFit/>
          </a:bodyPr>
          <a:lstStyle/>
          <a:p>
            <a:r>
              <a:rPr lang="en-US" sz="2400">
                <a:solidFill>
                  <a:srgbClr val="14292D"/>
                </a:solidFill>
                <a:latin typeface="Segoe UI" panose="020B0502040204020203" pitchFamily="34" charset="0"/>
              </a:rPr>
              <a:t>Include routing, synthesis, retries and the warm Codex fallback.</a:t>
            </a:r>
          </a:p>
        </p:txBody>
      </p:sp>
      <p:sp>
        <p:nvSpPr>
          <p:cNvPr id="5" name="TextBox 4">
            <a:extLst>
              <a:ext uri="{FF2B5EF4-FFF2-40B4-BE49-F238E27FC236}">
                <a16:creationId xmlns:a16="http://schemas.microsoft.com/office/drawing/2014/main" id="{B3E63D41-A7E0-0ED8-079D-94535BA74FA0}"/>
              </a:ext>
            </a:extLst>
          </p:cNvPr>
          <p:cNvSpPr txBox="1"/>
          <p:nvPr/>
        </p:nvSpPr>
        <p:spPr>
          <a:xfrm>
            <a:off x="635000" y="4318000"/>
            <a:ext cx="10795000" cy="369332"/>
          </a:xfrm>
          <a:prstGeom prst="rect">
            <a:avLst/>
          </a:prstGeom>
          <a:noFill/>
        </p:spPr>
        <p:txBody>
          <a:bodyPr vert="horz" wrap="square" lIns="0" tIns="0" rIns="0" bIns="0" rtlCol="0">
            <a:spAutoFit/>
          </a:bodyPr>
          <a:lstStyle/>
          <a:p>
            <a:r>
              <a:rPr lang="en-US" sz="2400">
                <a:solidFill>
                  <a:srgbClr val="14292D"/>
                </a:solidFill>
                <a:latin typeface="Segoe UI" panose="020B0502040204020203" pitchFamily="34" charset="0"/>
              </a:rPr>
              <a:t>Cached input and reasoning tokens are already included in those totals.</a:t>
            </a:r>
          </a:p>
        </p:txBody>
      </p:sp>
      <p:sp>
        <p:nvSpPr>
          <p:cNvPr id="6" name="TextBox 5">
            <a:extLst>
              <a:ext uri="{FF2B5EF4-FFF2-40B4-BE49-F238E27FC236}">
                <a16:creationId xmlns:a16="http://schemas.microsoft.com/office/drawing/2014/main" id="{B9AA279E-BEAD-4014-1974-49FC833111BE}"/>
              </a:ext>
            </a:extLst>
          </p:cNvPr>
          <p:cNvSpPr txBox="1"/>
          <p:nvPr/>
        </p:nvSpPr>
        <p:spPr>
          <a:xfrm>
            <a:off x="635000" y="5461000"/>
            <a:ext cx="10795000" cy="677108"/>
          </a:xfrm>
          <a:prstGeom prst="rect">
            <a:avLst/>
          </a:prstGeom>
          <a:noFill/>
        </p:spPr>
        <p:txBody>
          <a:bodyPr vert="horz" wrap="square" lIns="0" tIns="0" rIns="0" bIns="0" rtlCol="0">
            <a:spAutoFit/>
          </a:bodyPr>
          <a:lstStyle/>
          <a:p>
            <a:r>
              <a:rPr lang="en-US" sz="2200">
                <a:solidFill>
                  <a:srgbClr val="4C6061"/>
                </a:solidFill>
                <a:latin typeface="Segoe UI" panose="020B0502040204020203" pitchFamily="34" charset="0"/>
              </a:rPr>
              <a:t>Missing receipts stay unknown. Report elapsed time and tokens per successful task separately.</a:t>
            </a:r>
          </a:p>
        </p:txBody>
      </p:sp>
    </p:spTree>
    <p:extLst>
      <p:ext uri="{BB962C8B-B14F-4D97-AF65-F5344CB8AC3E}">
        <p14:creationId xmlns:p14="http://schemas.microsoft.com/office/powerpoint/2010/main" val="142671584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7F8F4"/>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8CBDE10-F896-B2E9-D7CF-65235F222580}"/>
              </a:ext>
            </a:extLst>
          </p:cNvPr>
          <p:cNvSpPr txBox="1"/>
          <p:nvPr/>
        </p:nvSpPr>
        <p:spPr>
          <a:xfrm>
            <a:off x="635000" y="508000"/>
            <a:ext cx="10922000" cy="492443"/>
          </a:xfrm>
          <a:prstGeom prst="rect">
            <a:avLst/>
          </a:prstGeom>
          <a:noFill/>
        </p:spPr>
        <p:txBody>
          <a:bodyPr vert="horz" wrap="square" lIns="0" tIns="0" rIns="0" bIns="0" rtlCol="0">
            <a:spAutoFit/>
          </a:bodyPr>
          <a:lstStyle/>
          <a:p>
            <a:r>
              <a:rPr lang="en-US" sz="3200" b="1">
                <a:solidFill>
                  <a:srgbClr val="14292D"/>
                </a:solidFill>
                <a:latin typeface="Segoe UI" panose="020B0502040204020203" pitchFamily="34" charset="0"/>
              </a:rPr>
              <a:t>Sample plan for a credible comparison</a:t>
            </a:r>
          </a:p>
        </p:txBody>
      </p:sp>
      <p:sp>
        <p:nvSpPr>
          <p:cNvPr id="3" name="TextBox 2">
            <a:extLst>
              <a:ext uri="{FF2B5EF4-FFF2-40B4-BE49-F238E27FC236}">
                <a16:creationId xmlns:a16="http://schemas.microsoft.com/office/drawing/2014/main" id="{D2B94B79-0468-4654-3B28-0787E26867BB}"/>
              </a:ext>
            </a:extLst>
          </p:cNvPr>
          <p:cNvSpPr txBox="1"/>
          <p:nvPr/>
        </p:nvSpPr>
        <p:spPr>
          <a:xfrm>
            <a:off x="635000" y="1778000"/>
            <a:ext cx="2286000" cy="384721"/>
          </a:xfrm>
          <a:prstGeom prst="rect">
            <a:avLst/>
          </a:prstGeom>
          <a:noFill/>
        </p:spPr>
        <p:txBody>
          <a:bodyPr vert="horz" wrap="square" lIns="0" tIns="0" rIns="0" bIns="0" rtlCol="0">
            <a:spAutoFit/>
          </a:bodyPr>
          <a:lstStyle/>
          <a:p>
            <a:r>
              <a:rPr lang="en-US" sz="2500" b="1">
                <a:solidFill>
                  <a:srgbClr val="11705B"/>
                </a:solidFill>
                <a:latin typeface="Segoe UI" panose="020B0502040204020203" pitchFamily="34" charset="0"/>
              </a:rPr>
              <a:t>Pilot</a:t>
            </a:r>
          </a:p>
        </p:txBody>
      </p:sp>
      <p:sp>
        <p:nvSpPr>
          <p:cNvPr id="4" name="TextBox 3">
            <a:extLst>
              <a:ext uri="{FF2B5EF4-FFF2-40B4-BE49-F238E27FC236}">
                <a16:creationId xmlns:a16="http://schemas.microsoft.com/office/drawing/2014/main" id="{620C3914-36EE-9F07-4DAF-9D9CB7D4800F}"/>
              </a:ext>
            </a:extLst>
          </p:cNvPr>
          <p:cNvSpPr txBox="1"/>
          <p:nvPr/>
        </p:nvSpPr>
        <p:spPr>
          <a:xfrm>
            <a:off x="3175000" y="1778000"/>
            <a:ext cx="8255000" cy="369332"/>
          </a:xfrm>
          <a:prstGeom prst="rect">
            <a:avLst/>
          </a:prstGeom>
          <a:noFill/>
        </p:spPr>
        <p:txBody>
          <a:bodyPr vert="horz" wrap="square" lIns="0" tIns="0" rIns="0" bIns="0" rtlCol="0">
            <a:spAutoFit/>
          </a:bodyPr>
          <a:lstStyle/>
          <a:p>
            <a:r>
              <a:rPr lang="en-US" sz="2400">
                <a:solidFill>
                  <a:srgbClr val="14292D"/>
                </a:solidFill>
                <a:latin typeface="Segoe UI" panose="020B0502040204020203" pitchFamily="34" charset="0"/>
              </a:rPr>
              <a:t>16 authored tasks to verify live access, metering and cost.</a:t>
            </a:r>
          </a:p>
        </p:txBody>
      </p:sp>
      <p:sp>
        <p:nvSpPr>
          <p:cNvPr id="5" name="TextBox 4">
            <a:extLst>
              <a:ext uri="{FF2B5EF4-FFF2-40B4-BE49-F238E27FC236}">
                <a16:creationId xmlns:a16="http://schemas.microsoft.com/office/drawing/2014/main" id="{DC4CF52E-1398-EFF2-F849-A787B9F8C7EC}"/>
              </a:ext>
            </a:extLst>
          </p:cNvPr>
          <p:cNvSpPr txBox="1"/>
          <p:nvPr/>
        </p:nvSpPr>
        <p:spPr>
          <a:xfrm>
            <a:off x="635000" y="3111500"/>
            <a:ext cx="2476500" cy="384721"/>
          </a:xfrm>
          <a:prstGeom prst="rect">
            <a:avLst/>
          </a:prstGeom>
          <a:noFill/>
        </p:spPr>
        <p:txBody>
          <a:bodyPr vert="horz" wrap="square" lIns="0" tIns="0" rIns="0" bIns="0" rtlCol="0">
            <a:spAutoFit/>
          </a:bodyPr>
          <a:lstStyle/>
          <a:p>
            <a:r>
              <a:rPr lang="en-US" sz="2500" b="1">
                <a:solidFill>
                  <a:srgbClr val="11705B"/>
                </a:solidFill>
                <a:latin typeface="Segoe UI" panose="020B0502040204020203" pitchFamily="34" charset="0"/>
              </a:rPr>
              <a:t>Confirmatory</a:t>
            </a:r>
          </a:p>
        </p:txBody>
      </p:sp>
      <p:sp>
        <p:nvSpPr>
          <p:cNvPr id="6" name="TextBox 5">
            <a:extLst>
              <a:ext uri="{FF2B5EF4-FFF2-40B4-BE49-F238E27FC236}">
                <a16:creationId xmlns:a16="http://schemas.microsoft.com/office/drawing/2014/main" id="{156A210B-09F9-865B-4037-3F7C02711A33}"/>
              </a:ext>
            </a:extLst>
          </p:cNvPr>
          <p:cNvSpPr txBox="1"/>
          <p:nvPr/>
        </p:nvSpPr>
        <p:spPr>
          <a:xfrm>
            <a:off x="3175000" y="3111500"/>
            <a:ext cx="8255000" cy="738664"/>
          </a:xfrm>
          <a:prstGeom prst="rect">
            <a:avLst/>
          </a:prstGeom>
          <a:noFill/>
        </p:spPr>
        <p:txBody>
          <a:bodyPr vert="horz" wrap="square" lIns="0" tIns="0" rIns="0" bIns="0" rtlCol="0">
            <a:spAutoFit/>
          </a:bodyPr>
          <a:lstStyle/>
          <a:p>
            <a:r>
              <a:rPr lang="en-US" sz="2400">
                <a:solidFill>
                  <a:srgbClr val="14292D"/>
                </a:solidFill>
                <a:latin typeface="Segoe UI" panose="020B0502040204020203" pitchFamily="34" charset="0"/>
              </a:rPr>
              <a:t>Target 100 held-out issues with 3 paired repetitions: 600 agent trials.</a:t>
            </a:r>
          </a:p>
        </p:txBody>
      </p:sp>
      <p:sp>
        <p:nvSpPr>
          <p:cNvPr id="7" name="TextBox 6">
            <a:extLst>
              <a:ext uri="{FF2B5EF4-FFF2-40B4-BE49-F238E27FC236}">
                <a16:creationId xmlns:a16="http://schemas.microsoft.com/office/drawing/2014/main" id="{F7B4E253-C29D-93DF-AD5F-DFC6B8C6646F}"/>
              </a:ext>
            </a:extLst>
          </p:cNvPr>
          <p:cNvSpPr txBox="1"/>
          <p:nvPr/>
        </p:nvSpPr>
        <p:spPr>
          <a:xfrm>
            <a:off x="635000" y="4635500"/>
            <a:ext cx="2286000" cy="384721"/>
          </a:xfrm>
          <a:prstGeom prst="rect">
            <a:avLst/>
          </a:prstGeom>
          <a:noFill/>
        </p:spPr>
        <p:txBody>
          <a:bodyPr vert="horz" wrap="square" lIns="0" tIns="0" rIns="0" bIns="0" rtlCol="0">
            <a:spAutoFit/>
          </a:bodyPr>
          <a:lstStyle/>
          <a:p>
            <a:r>
              <a:rPr lang="en-US" sz="2500" b="1">
                <a:solidFill>
                  <a:srgbClr val="11705B"/>
                </a:solidFill>
                <a:latin typeface="Segoe UI" panose="020B0502040204020203" pitchFamily="34" charset="0"/>
              </a:rPr>
              <a:t>Analysis</a:t>
            </a:r>
          </a:p>
        </p:txBody>
      </p:sp>
      <p:sp>
        <p:nvSpPr>
          <p:cNvPr id="8" name="TextBox 7">
            <a:extLst>
              <a:ext uri="{FF2B5EF4-FFF2-40B4-BE49-F238E27FC236}">
                <a16:creationId xmlns:a16="http://schemas.microsoft.com/office/drawing/2014/main" id="{650F446D-31DB-FA7C-D300-0DB4291A2C7D}"/>
              </a:ext>
            </a:extLst>
          </p:cNvPr>
          <p:cNvSpPr txBox="1"/>
          <p:nvPr/>
        </p:nvSpPr>
        <p:spPr>
          <a:xfrm>
            <a:off x="3175000" y="4635500"/>
            <a:ext cx="8255000" cy="738664"/>
          </a:xfrm>
          <a:prstGeom prst="rect">
            <a:avLst/>
          </a:prstGeom>
          <a:noFill/>
        </p:spPr>
        <p:txBody>
          <a:bodyPr vert="horz" wrap="square" lIns="0" tIns="0" rIns="0" bIns="0" rtlCol="0">
            <a:spAutoFit/>
          </a:bodyPr>
          <a:lstStyle/>
          <a:p>
            <a:r>
              <a:rPr lang="en-US" sz="2400">
                <a:solidFill>
                  <a:srgbClr val="14292D"/>
                </a:solidFill>
                <a:latin typeface="Segoe UI" panose="020B0502040204020203" pitchFamily="34" charset="0"/>
              </a:rPr>
              <a:t>Randomize order. Cluster confidence intervals by issue. Repeated runs do not create independent issues.</a:t>
            </a:r>
          </a:p>
        </p:txBody>
      </p:sp>
    </p:spTree>
    <p:extLst>
      <p:ext uri="{BB962C8B-B14F-4D97-AF65-F5344CB8AC3E}">
        <p14:creationId xmlns:p14="http://schemas.microsoft.com/office/powerpoint/2010/main" val="132875017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7F8F4"/>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10636EA-8B05-6120-4B66-ACB766865BAB}"/>
              </a:ext>
            </a:extLst>
          </p:cNvPr>
          <p:cNvSpPr txBox="1"/>
          <p:nvPr/>
        </p:nvSpPr>
        <p:spPr>
          <a:xfrm>
            <a:off x="635000" y="508000"/>
            <a:ext cx="10922000" cy="492443"/>
          </a:xfrm>
          <a:prstGeom prst="rect">
            <a:avLst/>
          </a:prstGeom>
          <a:noFill/>
        </p:spPr>
        <p:txBody>
          <a:bodyPr vert="horz" wrap="square" lIns="0" tIns="0" rIns="0" bIns="0" rtlCol="0">
            <a:spAutoFit/>
          </a:bodyPr>
          <a:lstStyle/>
          <a:p>
            <a:r>
              <a:rPr lang="en-US" sz="3200" b="1">
                <a:solidFill>
                  <a:srgbClr val="14292D"/>
                </a:solidFill>
                <a:latin typeface="Segoe UI" panose="020B0502040204020203" pitchFamily="34" charset="0"/>
              </a:rPr>
              <a:t>Changes that strengthen the design</a:t>
            </a:r>
          </a:p>
        </p:txBody>
      </p:sp>
      <p:sp>
        <p:nvSpPr>
          <p:cNvPr id="3" name="TextBox 2">
            <a:extLst>
              <a:ext uri="{FF2B5EF4-FFF2-40B4-BE49-F238E27FC236}">
                <a16:creationId xmlns:a16="http://schemas.microsoft.com/office/drawing/2014/main" id="{9C869CC7-0DBA-7904-5234-DE1DADEBA4E6}"/>
              </a:ext>
            </a:extLst>
          </p:cNvPr>
          <p:cNvSpPr txBox="1"/>
          <p:nvPr/>
        </p:nvSpPr>
        <p:spPr>
          <a:xfrm>
            <a:off x="635000" y="1714500"/>
            <a:ext cx="10922000" cy="384721"/>
          </a:xfrm>
          <a:prstGeom prst="rect">
            <a:avLst/>
          </a:prstGeom>
          <a:noFill/>
        </p:spPr>
        <p:txBody>
          <a:bodyPr vert="horz" wrap="square" lIns="0" tIns="0" rIns="0" bIns="0" rtlCol="0">
            <a:spAutoFit/>
          </a:bodyPr>
          <a:lstStyle/>
          <a:p>
            <a:r>
              <a:rPr lang="en-US" sz="2500" b="1">
                <a:solidFill>
                  <a:srgbClr val="11705B"/>
                </a:solidFill>
                <a:latin typeface="Segoe UI" panose="020B0502040204020203" pitchFamily="34" charset="0"/>
              </a:rPr>
              <a:t>Pair efficiency with correctness</a:t>
            </a:r>
          </a:p>
        </p:txBody>
      </p:sp>
      <p:sp>
        <p:nvSpPr>
          <p:cNvPr id="4" name="TextBox 3">
            <a:extLst>
              <a:ext uri="{FF2B5EF4-FFF2-40B4-BE49-F238E27FC236}">
                <a16:creationId xmlns:a16="http://schemas.microsoft.com/office/drawing/2014/main" id="{0FA7FFF7-3E42-ACEB-6E71-78F9C0276CF3}"/>
              </a:ext>
            </a:extLst>
          </p:cNvPr>
          <p:cNvSpPr txBox="1"/>
          <p:nvPr/>
        </p:nvSpPr>
        <p:spPr>
          <a:xfrm>
            <a:off x="635000" y="2311400"/>
            <a:ext cx="10922000" cy="338554"/>
          </a:xfrm>
          <a:prstGeom prst="rect">
            <a:avLst/>
          </a:prstGeom>
          <a:noFill/>
        </p:spPr>
        <p:txBody>
          <a:bodyPr vert="horz" wrap="square" lIns="0" tIns="0" rIns="0" bIns="0" rtlCol="0">
            <a:spAutoFit/>
          </a:bodyPr>
          <a:lstStyle/>
          <a:p>
            <a:r>
              <a:rPr lang="en-US" sz="2200">
                <a:solidFill>
                  <a:srgbClr val="14292D"/>
                </a:solidFill>
                <a:latin typeface="Segoe UI" panose="020B0502040204020203" pitchFamily="34" charset="0"/>
              </a:rPr>
              <a:t>A pause or failed attempt can save tokens without solving the issue.</a:t>
            </a:r>
          </a:p>
        </p:txBody>
      </p:sp>
      <p:sp>
        <p:nvSpPr>
          <p:cNvPr id="5" name="TextBox 4">
            <a:extLst>
              <a:ext uri="{FF2B5EF4-FFF2-40B4-BE49-F238E27FC236}">
                <a16:creationId xmlns:a16="http://schemas.microsoft.com/office/drawing/2014/main" id="{AFEA2BF5-46A1-A686-96AE-63337CF4B7D5}"/>
              </a:ext>
            </a:extLst>
          </p:cNvPr>
          <p:cNvSpPr txBox="1"/>
          <p:nvPr/>
        </p:nvSpPr>
        <p:spPr>
          <a:xfrm>
            <a:off x="635000" y="3302000"/>
            <a:ext cx="10922000" cy="384721"/>
          </a:xfrm>
          <a:prstGeom prst="rect">
            <a:avLst/>
          </a:prstGeom>
          <a:noFill/>
        </p:spPr>
        <p:txBody>
          <a:bodyPr vert="horz" wrap="square" lIns="0" tIns="0" rIns="0" bIns="0" rtlCol="0">
            <a:spAutoFit/>
          </a:bodyPr>
          <a:lstStyle/>
          <a:p>
            <a:r>
              <a:rPr lang="en-US" sz="2500" b="1">
                <a:solidFill>
                  <a:srgbClr val="11705B"/>
                </a:solidFill>
                <a:latin typeface="Segoe UI" panose="020B0502040204020203" pitchFamily="34" charset="0"/>
              </a:rPr>
              <a:t>Preserve every outcome</a:t>
            </a:r>
          </a:p>
        </p:txBody>
      </p:sp>
      <p:sp>
        <p:nvSpPr>
          <p:cNvPr id="6" name="TextBox 5">
            <a:extLst>
              <a:ext uri="{FF2B5EF4-FFF2-40B4-BE49-F238E27FC236}">
                <a16:creationId xmlns:a16="http://schemas.microsoft.com/office/drawing/2014/main" id="{5557383B-23E2-7C32-3B6E-731716FB2FF7}"/>
              </a:ext>
            </a:extLst>
          </p:cNvPr>
          <p:cNvSpPr txBox="1"/>
          <p:nvPr/>
        </p:nvSpPr>
        <p:spPr>
          <a:xfrm>
            <a:off x="635000" y="3898900"/>
            <a:ext cx="10922000" cy="338554"/>
          </a:xfrm>
          <a:prstGeom prst="rect">
            <a:avLst/>
          </a:prstGeom>
          <a:noFill/>
        </p:spPr>
        <p:txBody>
          <a:bodyPr vert="horz" wrap="square" lIns="0" tIns="0" rIns="0" bIns="0" rtlCol="0">
            <a:spAutoFit/>
          </a:bodyPr>
          <a:lstStyle/>
          <a:p>
            <a:r>
              <a:rPr lang="en-US" sz="2200">
                <a:solidFill>
                  <a:srgbClr val="14292D"/>
                </a:solidFill>
                <a:latin typeface="Segoe UI" panose="020B0502040204020203" pitchFamily="34" charset="0"/>
              </a:rPr>
              <a:t>Keep timeouts, refusals, incomplete usage and infrastructure failures visible.</a:t>
            </a:r>
          </a:p>
        </p:txBody>
      </p:sp>
      <p:sp>
        <p:nvSpPr>
          <p:cNvPr id="7" name="TextBox 6">
            <a:extLst>
              <a:ext uri="{FF2B5EF4-FFF2-40B4-BE49-F238E27FC236}">
                <a16:creationId xmlns:a16="http://schemas.microsoft.com/office/drawing/2014/main" id="{61A3DBB4-4B4D-C0B3-CC37-7C1A3F2A7022}"/>
              </a:ext>
            </a:extLst>
          </p:cNvPr>
          <p:cNvSpPr txBox="1"/>
          <p:nvPr/>
        </p:nvSpPr>
        <p:spPr>
          <a:xfrm>
            <a:off x="635000" y="4953000"/>
            <a:ext cx="10922000" cy="384721"/>
          </a:xfrm>
          <a:prstGeom prst="rect">
            <a:avLst/>
          </a:prstGeom>
          <a:noFill/>
        </p:spPr>
        <p:txBody>
          <a:bodyPr vert="horz" wrap="square" lIns="0" tIns="0" rIns="0" bIns="0" rtlCol="0">
            <a:spAutoFit/>
          </a:bodyPr>
          <a:lstStyle/>
          <a:p>
            <a:r>
              <a:rPr lang="en-US" sz="2500" b="1">
                <a:solidFill>
                  <a:srgbClr val="11705B"/>
                </a:solidFill>
                <a:latin typeface="Segoe UI" panose="020B0502040204020203" pitchFamily="34" charset="0"/>
              </a:rPr>
              <a:t>Match the claim to the corpus</a:t>
            </a:r>
          </a:p>
        </p:txBody>
      </p:sp>
      <p:sp>
        <p:nvSpPr>
          <p:cNvPr id="8" name="TextBox 7">
            <a:extLst>
              <a:ext uri="{FF2B5EF4-FFF2-40B4-BE49-F238E27FC236}">
                <a16:creationId xmlns:a16="http://schemas.microsoft.com/office/drawing/2014/main" id="{A76970FC-07E6-D08E-CEBB-EBB0FE3FD254}"/>
              </a:ext>
            </a:extLst>
          </p:cNvPr>
          <p:cNvSpPr txBox="1"/>
          <p:nvPr/>
        </p:nvSpPr>
        <p:spPr>
          <a:xfrm>
            <a:off x="635000" y="5549900"/>
            <a:ext cx="10922000" cy="338554"/>
          </a:xfrm>
          <a:prstGeom prst="rect">
            <a:avLst/>
          </a:prstGeom>
          <a:noFill/>
        </p:spPr>
        <p:txBody>
          <a:bodyPr vert="horz" wrap="square" lIns="0" tIns="0" rIns="0" bIns="0" rtlCol="0">
            <a:spAutoFit/>
          </a:bodyPr>
          <a:lstStyle/>
          <a:p>
            <a:r>
              <a:rPr lang="en-US" sz="2200">
                <a:solidFill>
                  <a:srgbClr val="14292D"/>
                </a:solidFill>
                <a:latin typeface="Segoe UI" panose="020B0502040204020203" pitchFamily="34" charset="0"/>
              </a:rPr>
              <a:t>Small authored exercises cannot establish general repository performance.</a:t>
            </a:r>
          </a:p>
        </p:txBody>
      </p:sp>
    </p:spTree>
    <p:extLst>
      <p:ext uri="{BB962C8B-B14F-4D97-AF65-F5344CB8AC3E}">
        <p14:creationId xmlns:p14="http://schemas.microsoft.com/office/powerpoint/2010/main" val="42279199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7F8F4"/>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9C20694-3A69-D2B1-BF14-E58FDD5B81D1}"/>
              </a:ext>
            </a:extLst>
          </p:cNvPr>
          <p:cNvSpPr txBox="1"/>
          <p:nvPr/>
        </p:nvSpPr>
        <p:spPr>
          <a:xfrm>
            <a:off x="635000" y="508000"/>
            <a:ext cx="10922000" cy="492443"/>
          </a:xfrm>
          <a:prstGeom prst="rect">
            <a:avLst/>
          </a:prstGeom>
          <a:noFill/>
        </p:spPr>
        <p:txBody>
          <a:bodyPr vert="horz" wrap="square" lIns="0" tIns="0" rIns="0" bIns="0" rtlCol="0">
            <a:spAutoFit/>
          </a:bodyPr>
          <a:lstStyle/>
          <a:p>
            <a:r>
              <a:rPr lang="en-US" sz="3200" b="1">
                <a:solidFill>
                  <a:srgbClr val="14292D"/>
                </a:solidFill>
                <a:latin typeface="Segoe UI" panose="020B0502040204020203" pitchFamily="34" charset="0"/>
              </a:rPr>
              <a:t>No measured winner yet</a:t>
            </a:r>
          </a:p>
        </p:txBody>
      </p:sp>
      <p:sp>
        <p:nvSpPr>
          <p:cNvPr id="3" name="TextBox 2">
            <a:extLst>
              <a:ext uri="{FF2B5EF4-FFF2-40B4-BE49-F238E27FC236}">
                <a16:creationId xmlns:a16="http://schemas.microsoft.com/office/drawing/2014/main" id="{00F53147-A6F9-0B55-5E98-F458656350FC}"/>
              </a:ext>
            </a:extLst>
          </p:cNvPr>
          <p:cNvSpPr txBox="1"/>
          <p:nvPr/>
        </p:nvSpPr>
        <p:spPr>
          <a:xfrm>
            <a:off x="635000" y="1778000"/>
            <a:ext cx="10922000" cy="830997"/>
          </a:xfrm>
          <a:prstGeom prst="rect">
            <a:avLst/>
          </a:prstGeom>
          <a:noFill/>
        </p:spPr>
        <p:txBody>
          <a:bodyPr vert="horz" wrap="square" lIns="0" tIns="0" rIns="0" bIns="0" rtlCol="0">
            <a:spAutoFit/>
          </a:bodyPr>
          <a:lstStyle/>
          <a:p>
            <a:r>
              <a:rPr lang="en-US" sz="2700" b="1">
                <a:solidFill>
                  <a:srgbClr val="11705B"/>
                </a:solidFill>
                <a:latin typeface="Segoe UI" panose="020B0502040204020203" pitchFamily="34" charset="0"/>
              </a:rPr>
              <a:t>Ready: isolated testbench, frozen source, hidden grading and usage accounting.</a:t>
            </a:r>
          </a:p>
        </p:txBody>
      </p:sp>
      <p:sp>
        <p:nvSpPr>
          <p:cNvPr id="4" name="TextBox 3">
            <a:extLst>
              <a:ext uri="{FF2B5EF4-FFF2-40B4-BE49-F238E27FC236}">
                <a16:creationId xmlns:a16="http://schemas.microsoft.com/office/drawing/2014/main" id="{DAE25327-3AE1-338E-5653-11F4D1A8B994}"/>
              </a:ext>
            </a:extLst>
          </p:cNvPr>
          <p:cNvSpPr txBox="1"/>
          <p:nvPr/>
        </p:nvSpPr>
        <p:spPr>
          <a:xfrm>
            <a:off x="635000" y="3429000"/>
            <a:ext cx="10922000" cy="384721"/>
          </a:xfrm>
          <a:prstGeom prst="rect">
            <a:avLst/>
          </a:prstGeom>
          <a:noFill/>
        </p:spPr>
        <p:txBody>
          <a:bodyPr vert="horz" wrap="square" lIns="0" tIns="0" rIns="0" bIns="0" rtlCol="0">
            <a:spAutoFit/>
          </a:bodyPr>
          <a:lstStyle/>
          <a:p>
            <a:r>
              <a:rPr lang="en-US" sz="2500">
                <a:solidFill>
                  <a:srgbClr val="14292D"/>
                </a:solidFill>
                <a:latin typeface="Segoe UI" panose="020B0502040204020203" pitchFamily="34" charset="0"/>
              </a:rPr>
              <a:t>Needed for live runs: an existing credential location and a spending cap.</a:t>
            </a:r>
          </a:p>
        </p:txBody>
      </p:sp>
      <p:sp>
        <p:nvSpPr>
          <p:cNvPr id="5" name="TextBox 4">
            <a:extLst>
              <a:ext uri="{FF2B5EF4-FFF2-40B4-BE49-F238E27FC236}">
                <a16:creationId xmlns:a16="http://schemas.microsoft.com/office/drawing/2014/main" id="{477D262D-0DD5-72F4-5971-647EFDB830EB}"/>
              </a:ext>
            </a:extLst>
          </p:cNvPr>
          <p:cNvSpPr txBox="1"/>
          <p:nvPr/>
        </p:nvSpPr>
        <p:spPr>
          <a:xfrm>
            <a:off x="635000" y="5016500"/>
            <a:ext cx="10922000" cy="738664"/>
          </a:xfrm>
          <a:prstGeom prst="rect">
            <a:avLst/>
          </a:prstGeom>
          <a:noFill/>
        </p:spPr>
        <p:txBody>
          <a:bodyPr vert="horz" wrap="square" lIns="0" tIns="0" rIns="0" bIns="0" rtlCol="0">
            <a:spAutoFit/>
          </a:bodyPr>
          <a:lstStyle/>
          <a:p>
            <a:r>
              <a:rPr lang="en-US" sz="2400">
                <a:solidFill>
                  <a:srgbClr val="4C6061"/>
                </a:solidFill>
                <a:latin typeface="Segoe UI" panose="020B0502040204020203" pitchFamily="34" charset="0"/>
              </a:rPr>
              <a:t>A stronger efficiency claim requires lower token use while the 95% quality interval stays above a 5-point loss.</a:t>
            </a:r>
          </a:p>
        </p:txBody>
      </p:sp>
    </p:spTree>
    <p:extLst>
      <p:ext uri="{BB962C8B-B14F-4D97-AF65-F5344CB8AC3E}">
        <p14:creationId xmlns:p14="http://schemas.microsoft.com/office/powerpoint/2010/main" val="26103359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755</Words>
  <Application>Microsoft Office PowerPoint</Application>
  <PresentationFormat>Custom</PresentationFormat>
  <Paragraphs>75</Paragraphs>
  <Slides>7</Slides>
  <Notes>7</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7</vt:i4>
      </vt:variant>
    </vt:vector>
  </HeadingPairs>
  <TitlesOfParts>
    <vt:vector size="12" baseType="lpstr">
      <vt:lpstr>Aptos</vt:lpstr>
      <vt:lpstr>Aptos Display</vt:lpstr>
      <vt:lpstr>Arial</vt:lpstr>
      <vt:lpstr>Segoe UI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Adan Rojas</dc:creator>
  <cp:lastModifiedBy>Adan Rojas</cp:lastModifiedBy>
  <cp:revision>1</cp:revision>
  <dcterms:created xsi:type="dcterms:W3CDTF">2026-10-18T10:26:18Z</dcterms:created>
  <dcterms:modified xsi:type="dcterms:W3CDTF">2026-10-18T10:26:18Z</dcterms:modified>
</cp:coreProperties>
</file>